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3478FF"/>
            </a:solidFill>
            <a:ln w="25400" cap="flat">
              <a:solidFill>
                <a:srgbClr val="347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78FF"/>
              </a:solidFill>
              <a:ln w="9525" cap="flat">
                <a:solidFill>
                  <a:srgbClr val="347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9358</c:v>
                </c:pt>
                <c:pt idx="1">
                  <c:v>10452</c:v>
                </c:pt>
                <c:pt idx="2">
                  <c:v>11072</c:v>
                </c:pt>
                <c:pt idx="3">
                  <c:v>11278</c:v>
                </c:pt>
                <c:pt idx="4">
                  <c:v>11368</c:v>
                </c:pt>
                <c:pt idx="5">
                  <c:v>11489</c:v>
                </c:pt>
                <c:pt idx="6">
                  <c:v>11711</c:v>
                </c:pt>
                <c:pt idx="7">
                  <c:v>12124</c:v>
                </c:pt>
                <c:pt idx="8">
                  <c:v>12417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000"/>
          <c:min val="900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3478FF"/>
            </a:solidFill>
            <a:ln w="25400" cap="flat">
              <a:solidFill>
                <a:srgbClr val="3478F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478FF"/>
              </a:solidFill>
              <a:ln w="9525" cap="flat">
                <a:solidFill>
                  <a:srgbClr val="3478F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14084</c:v>
                </c:pt>
                <c:pt idx="1">
                  <c:v>14108</c:v>
                </c:pt>
                <c:pt idx="2">
                  <c:v>14120</c:v>
                </c:pt>
                <c:pt idx="3">
                  <c:v>14135</c:v>
                </c:pt>
                <c:pt idx="4">
                  <c:v>14142</c:v>
                </c:pt>
                <c:pt idx="5">
                  <c:v>14150</c:v>
                </c:pt>
                <c:pt idx="6">
                  <c:v>14160</c:v>
                </c:pt>
                <c:pt idx="7">
                  <c:v>14194</c:v>
                </c:pt>
                <c:pt idx="8">
                  <c:v>14224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250"/>
          <c:min val="1405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347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54200</c:v>
                </c:pt>
                <c:pt idx="1">
                  <c:v>83300</c:v>
                </c:pt>
                <c:pt idx="2">
                  <c:v>49000</c:v>
                </c:pt>
                <c:pt idx="3">
                  <c:v>53000</c:v>
                </c:pt>
                <c:pt idx="4">
                  <c:v>24800</c:v>
                </c:pt>
                <c:pt idx="5">
                  <c:v>28500</c:v>
                </c:pt>
                <c:pt idx="6">
                  <c:v>79400</c:v>
                </c:pt>
                <c:pt idx="7">
                  <c:v>136300</c:v>
                </c:pt>
                <c:pt idx="8">
                  <c:v>67100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000"/>
          <c:min val="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347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22700</c:v>
                </c:pt>
                <c:pt idx="1">
                  <c:v>74500</c:v>
                </c:pt>
                <c:pt idx="2">
                  <c:v>6300</c:v>
                </c:pt>
                <c:pt idx="3">
                  <c:v>4900</c:v>
                </c:pt>
                <c:pt idx="4">
                  <c:v>3200</c:v>
                </c:pt>
                <c:pt idx="5">
                  <c:v>4000</c:v>
                </c:pt>
                <c:pt idx="6">
                  <c:v>45700</c:v>
                </c:pt>
                <c:pt idx="7">
                  <c:v>177500</c:v>
                </c:pt>
                <c:pt idx="8">
                  <c:v>116100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0000"/>
          <c:min val="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Instagram</c:v>
                </c:pt>
              </c:strCache>
            </c:strRef>
          </c:tx>
          <c:spPr>
            <a:solidFill>
              <a:srgbClr val="347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2242</c:v>
                </c:pt>
                <c:pt idx="1">
                  <c:v>2332</c:v>
                </c:pt>
                <c:pt idx="2">
                  <c:v>6732</c:v>
                </c:pt>
                <c:pt idx="3">
                  <c:v>7098</c:v>
                </c:pt>
                <c:pt idx="4">
                  <c:v>3558</c:v>
                </c:pt>
                <c:pt idx="5">
                  <c:v>3059</c:v>
                </c:pt>
                <c:pt idx="6">
                  <c:v>2883</c:v>
                </c:pt>
                <c:pt idx="7">
                  <c:v>5557</c:v>
                </c:pt>
                <c:pt idx="8">
                  <c:v>4088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00"/>
          <c:min val="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Facebook</c:v>
                </c:pt>
              </c:strCache>
            </c:strRef>
          </c:tx>
          <c:spPr>
            <a:solidFill>
              <a:srgbClr val="3478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JAN</c:v>
                  </c:pt>
                  <c:pt idx="1">
                    <c:v>FEV</c:v>
                  </c:pt>
                  <c:pt idx="2">
                    <c:v>MAR</c:v>
                  </c:pt>
                  <c:pt idx="3">
                    <c:v>ABR</c:v>
                  </c:pt>
                  <c:pt idx="4">
                    <c:v>MAI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AGO</c:v>
                  </c:pt>
                  <c:pt idx="8">
                    <c:v>SET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345</c:v>
                </c:pt>
                <c:pt idx="1">
                  <c:v>588</c:v>
                </c:pt>
                <c:pt idx="2">
                  <c:v>897</c:v>
                </c:pt>
                <c:pt idx="3">
                  <c:v>683</c:v>
                </c:pt>
                <c:pt idx="4">
                  <c:v>531</c:v>
                </c:pt>
                <c:pt idx="5">
                  <c:v>446</c:v>
                </c:pt>
                <c:pt idx="6">
                  <c:v>665</c:v>
                </c:pt>
                <c:pt idx="7">
                  <c:v>3082</c:v>
                </c:pt>
                <c:pt idx="8">
                  <c:v>2573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BB5CA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00"/>
          <c:min val="0"/>
        </c:scaling>
        <c:delete val="0"/>
        <c:axPos val="l"/>
        <c:majorGridlines>
          <c:spPr>
            <a:ln w="12700" cap="flat">
              <a:solidFill>
                <a:srgbClr val="2F395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Fonte: Meta Business Suite e planilha Controle de Meta/Verba, aba DAE - JUNDIAÍ.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Seguidores ganhos e interações do Meta Business Suite. As interações mensais somam 37.549 no Instagram e 9.810 no Facebook, total de 47.359.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[9358,10452,11072,11278,11368,11489,11711,12124,12417]
[14084,14108,14120,14135,14142,14150,14160,14194,14224]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[54200,83300,49000,53000,24800,28500,79400,136300,67100]
[22700,74500,6300,4900,3200,4000,45700,177500,116100]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[2242,2332,6732,7098,3558,3059,2883,5557,4088]
[345,588,897,683,531,446,665,3082,2573]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Alcance: (136.300/79.400-1)=71,66%. Visualizadores: 177.500/45.700=3,88. Interações IG: (5.557/2.883-1)=92,75%. Interações FB: 3.082/665=4,63.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Valores conferidos contra a versão clássica e as exportações citadas no estudo original.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DAE JUNDIAÍ | ESTUDO DE REDES SOCIAIS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 e Controle de Meta/Verba | Apuração: 19/10/2026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01/08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88952" cy="6492240"/>
          </a:xfrm>
          <a:prstGeom prst="rect">
            <a:avLst/>
          </a:prstGeom>
          <a:solidFill>
            <a:srgbClr val="090C13"/>
          </a:solidFill>
          <a:ln w="12700">
            <a:solidFill>
              <a:srgbClr val="090C1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DAE JUNDIAÍ | ESTUDO DE REDES SOCIAIS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353312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NOVE MESES QUE</a:t>
            </a:r>
            <a:endParaRPr lang="en-US" sz="5300" dirty="0"/>
          </a:p>
        </p:txBody>
      </p:sp>
      <p:sp>
        <p:nvSpPr>
          <p:cNvPr id="9" name="Text 7"/>
          <p:cNvSpPr/>
          <p:nvPr/>
        </p:nvSpPr>
        <p:spPr>
          <a:xfrm>
            <a:off x="384048" y="2176272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AMPLIARAM</a:t>
            </a:r>
            <a:endParaRPr lang="en-US" sz="5700" dirty="0"/>
          </a:p>
        </p:txBody>
      </p:sp>
      <p:sp>
        <p:nvSpPr>
          <p:cNvPr id="10" name="Text 8"/>
          <p:cNvSpPr/>
          <p:nvPr/>
        </p:nvSpPr>
        <p:spPr>
          <a:xfrm>
            <a:off x="384048" y="2980944"/>
            <a:ext cx="914400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CONEXÕES</a:t>
            </a:r>
            <a:endParaRPr lang="en-US" sz="5700" dirty="0"/>
          </a:p>
        </p:txBody>
      </p:sp>
      <p:sp>
        <p:nvSpPr>
          <p:cNvPr id="11" name="Text 9"/>
          <p:cNvSpPr/>
          <p:nvPr/>
        </p:nvSpPr>
        <p:spPr>
          <a:xfrm>
            <a:off x="384048" y="397764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e Facebook, janeiro a setembro de 2026. A evolução dos perfis institucionais e a coincidência entre os maiores resultados de distribuição e os meses com mídia.</a:t>
            </a:r>
            <a:endParaRPr lang="en-US" sz="1800" dirty="0"/>
          </a:p>
        </p:txBody>
      </p:sp>
      <p:pic>
        <p:nvPicPr>
          <p:cNvPr id="12" name="Image 0" descr="/Users/bruno/.codex/.chatgpt-projects/g-p-6ac7dbe994808191a54985dc5d276d5e/outputs/dae-jundiai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9760" y="667512"/>
            <a:ext cx="1920240" cy="79552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384048" y="5239512"/>
            <a:ext cx="11411712" cy="0"/>
          </a:xfrm>
          <a:prstGeom prst="line">
            <a:avLst/>
          </a:prstGeom>
          <a:noFill/>
          <a:ln w="76200">
            <a:solidFill>
              <a:srgbClr val="3478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| VISÃO EXECUTIVA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Suite, Resultados e Público; Controle de Meta/Verba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COMUNIDADE MAIOR.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5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47.359 INTERAÇÕES.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perfis do DAE cresceram de janeiro a setembro. Agosto concentrou os maiores valores de alcance no Instagram e de visualizadores no Facebook, durante um mês com campanhas registradas.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816352"/>
            <a:ext cx="3675888" cy="2103120"/>
          </a:xfrm>
          <a:prstGeom prst="roundRect">
            <a:avLst>
              <a:gd name="adj" fmla="val 2609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30358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66928" y="3520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+4.533</a:t>
            </a:r>
            <a:endParaRPr lang="en-US" sz="4300" dirty="0"/>
          </a:p>
        </p:txBody>
      </p:sp>
      <p:sp>
        <p:nvSpPr>
          <p:cNvPr id="12" name="Text 10"/>
          <p:cNvSpPr/>
          <p:nvPr/>
        </p:nvSpPr>
        <p:spPr>
          <a:xfrm>
            <a:off x="566928" y="440740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ganhos no período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242816" y="2816352"/>
            <a:ext cx="3675888" cy="2103120"/>
          </a:xfrm>
          <a:prstGeom prst="roundRect">
            <a:avLst>
              <a:gd name="adj" fmla="val 2609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25696" y="30358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425696" y="3520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+236</a:t>
            </a:r>
            <a:endParaRPr lang="en-US" sz="4300" dirty="0"/>
          </a:p>
        </p:txBody>
      </p:sp>
      <p:sp>
        <p:nvSpPr>
          <p:cNvPr id="16" name="Text 14"/>
          <p:cNvSpPr/>
          <p:nvPr/>
        </p:nvSpPr>
        <p:spPr>
          <a:xfrm>
            <a:off x="4425696" y="440740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seguidores ganhos no período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01584" y="2816352"/>
            <a:ext cx="3675888" cy="2103120"/>
          </a:xfrm>
          <a:prstGeom prst="roundRect">
            <a:avLst>
              <a:gd name="adj" fmla="val 2609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84464" y="30358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DOIS CANAIS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84464" y="3520440"/>
            <a:ext cx="331012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47.359</a:t>
            </a:r>
            <a:endParaRPr lang="en-US" sz="4300" dirty="0"/>
          </a:p>
        </p:txBody>
      </p:sp>
      <p:sp>
        <p:nvSpPr>
          <p:cNvPr id="20" name="Text 18"/>
          <p:cNvSpPr/>
          <p:nvPr/>
        </p:nvSpPr>
        <p:spPr>
          <a:xfrm>
            <a:off x="8284464" y="4407408"/>
            <a:ext cx="33101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com conteúdo nos nove meses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" y="5340096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5340096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5413248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Campanhas do DAE constam na planilha em julho, agosto e setembro. A coincidência temporal não isola o efeito da mídia.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| CRESCIMENTO DA COMUNIDADE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Suite, Público | Bases reconstruídas | Escalas independentes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OS PERFIS AVANÇARAM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MÊS A MÊS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 bases totais cresceram nas duas redes. Em agosto, houve acréscimo líquido de 413 seguidores no Instagram e 34 no Facebook.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NO FIM DO MÊS | 9.358 A 12.417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85216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199632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4224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NO FIM DO MÊS | 14.084 A 14.224</a:t>
            </a:r>
            <a:endParaRPr lang="en-US" sz="9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00800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384048" y="5806440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" y="5806440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96" y="5879592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Bases reconstruídas do total observado em 19/10/2026 e dos saldos mensais. Não são capturas históricas diretas.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| DISTRIBUIÇÃO DAS MENSAGENS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Suite, Resultados; Controle de Meta/Verba | Valores arredondados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AGOSTO REUNIU OS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MAIORES VALORES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Instagram alcançou 136,3 mil pessoas e o Facebook mostrou 177,5 mil visualizadores em agosto. São métricas diferentes e aparecem separadas.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MENSAL | PESSOAS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85216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199632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4224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VISUALIZADORES MENSAIS</a:t>
            </a:r>
            <a:endParaRPr lang="en-US" sz="9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00800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384048" y="5806440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" y="5806440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96" y="5879592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relação a julho: +72% no Instagram e 3,9 vezes no Facebook. Julho a setembro têm campanhas registradas.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| RESPOSTA AOS CONTEÚDOS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Suite, Resultados | Interações somadas por mês e rede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AS INTERAÇÕES TIVERAM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PICOS DISTINTOS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Abril foi o maior mês do Instagram, com 7.098 interações, antes das campanhas mapeadas. No Facebook, o pico foi agosto, com 3.082.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COM CONTEÚDO</a:t>
            </a:r>
            <a:endParaRPr lang="en-US" sz="9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585216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Shape 10"/>
          <p:cNvSpPr/>
          <p:nvPr/>
        </p:nvSpPr>
        <p:spPr>
          <a:xfrm>
            <a:off x="6199632" y="2651760"/>
            <a:ext cx="5596128" cy="2971800"/>
          </a:xfrm>
          <a:prstGeom prst="roundRect">
            <a:avLst>
              <a:gd name="adj" fmla="val 1846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364224" y="2770632"/>
            <a:ext cx="5266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364224" y="3090672"/>
            <a:ext cx="5266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COM CONTEÚDO</a:t>
            </a:r>
            <a:endParaRPr lang="en-US" sz="900" dirty="0"/>
          </a:p>
        </p:txBody>
      </p:sp>
      <p:graphicFrame>
        <p:nvGraphicFramePr>
          <p:cNvPr id="16" name="Chart 1" descr=""/>
          <p:cNvGraphicFramePr/>
          <p:nvPr/>
        </p:nvGraphicFramePr>
        <p:xfrm>
          <a:off x="6400800" y="3401568"/>
          <a:ext cx="5184648" cy="202082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Shape 13"/>
          <p:cNvSpPr/>
          <p:nvPr/>
        </p:nvSpPr>
        <p:spPr>
          <a:xfrm>
            <a:off x="384048" y="5806440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84048" y="5806440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9496" y="5879592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 agosto, frente a julho: +93% no Instagram e 4,6 vezes no Facebook. Pauta e outros fatores também influenciam.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| COMPARAÇÃO DE JULHO E AGOSTO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Business Suite; Controle de Meta/Verba | Cálculos sobre valores mensais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MÍDIA ATIVA E</a:t>
            </a:r>
            <a:endParaRPr lang="en-US" sz="43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3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RESULTADOS ELEVADOS</a:t>
            </a:r>
            <a:endParaRPr lang="en-US" sz="43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Os quatro indicadores de visibilidade e resposta cresceram de julho para agosto, mês com campanhas do DAE identificadas na planilha.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788920"/>
            <a:ext cx="2761488" cy="2176272"/>
          </a:xfrm>
          <a:prstGeom prst="roundRect">
            <a:avLst>
              <a:gd name="adj" fmla="val 2521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9496" y="29992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 NO INSTAGRAM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39496" y="357530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+72%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39496" y="43525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79,4 mil a 136,3 mil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2788920"/>
            <a:ext cx="2761488" cy="2176272"/>
          </a:xfrm>
          <a:prstGeom prst="roundRect">
            <a:avLst>
              <a:gd name="adj" fmla="val 2521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47288" y="29992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VISUALIZADORES NO FACEBOOK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47288" y="357530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3,9x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3447288" y="43525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45,7 mil a 177,5 mil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99632" y="2788920"/>
            <a:ext cx="2761488" cy="2176272"/>
          </a:xfrm>
          <a:prstGeom prst="roundRect">
            <a:avLst>
              <a:gd name="adj" fmla="val 2521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9992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NO INSTAGRAM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355080" y="357530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+93%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6355080" y="43525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2.883 a 5.557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07424" y="2788920"/>
            <a:ext cx="2761488" cy="2176272"/>
          </a:xfrm>
          <a:prstGeom prst="roundRect">
            <a:avLst>
              <a:gd name="adj" fmla="val 2521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62872" y="2999232"/>
            <a:ext cx="2450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spc="80" kern="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NO FACEBOOK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62872" y="3575304"/>
            <a:ext cx="24505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4,6x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262872" y="43525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665 a 3.082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84048" y="5376672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048" y="5376672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9496" y="5449824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Associação temporal: a comparação não atribui todo o resultado à mídia nem separa os efeitos da pauta e de fatores externos.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| CONTEÚDOS DE DESTAQUE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Exportações de publicações do DAE, janeiro a setembro de 2026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SERVIÇO E PESSOAS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GERARAM RESPOSTA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84048" y="1810512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Seleção de publicações institucionais do DAE sobre orientação prática e atendimento à população.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514600"/>
            <a:ext cx="2761488" cy="3246120"/>
          </a:xfrm>
          <a:prstGeom prst="roundRect">
            <a:avLst>
              <a:gd name="adj" fmla="val 1987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pic>
        <p:nvPicPr>
          <p:cNvPr id="10" name="Image 0" descr="/Users/bruno/.codex/.chatgpt-projects/g-p-6ac7dbe994808191a54985dc5d276d5e/outputs/post-ig-hidratacao-cor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51760"/>
            <a:ext cx="2523744" cy="13533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41696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 | 26/08/2026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502920" y="44622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Ponto de hidratação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502920" y="48646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635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502920" y="5349240"/>
            <a:ext cx="2523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8.979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3291840" y="2514600"/>
            <a:ext cx="2761488" cy="3246120"/>
          </a:xfrm>
          <a:prstGeom prst="roundRect">
            <a:avLst>
              <a:gd name="adj" fmla="val 1987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pic>
        <p:nvPicPr>
          <p:cNvPr id="16" name="Image 1" descr="/Users/bruno/.codex/.chatgpt-projects/g-p-6ac7dbe994808191a54985dc5d276d5e/outputs/post-fb-mulheres-cor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2651760"/>
            <a:ext cx="2523744" cy="135331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10712" y="41696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| 08/03/2026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410712" y="44622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Mulheres do DAE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410712" y="48646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227</a:t>
            </a:r>
            <a:endParaRPr lang="en-US" sz="2700" dirty="0"/>
          </a:p>
        </p:txBody>
      </p:sp>
      <p:sp>
        <p:nvSpPr>
          <p:cNvPr id="20" name="Text 16"/>
          <p:cNvSpPr/>
          <p:nvPr/>
        </p:nvSpPr>
        <p:spPr>
          <a:xfrm>
            <a:off x="3410712" y="5349240"/>
            <a:ext cx="2523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1.108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6199632" y="2514600"/>
            <a:ext cx="2761488" cy="3246120"/>
          </a:xfrm>
          <a:prstGeom prst="roundRect">
            <a:avLst>
              <a:gd name="adj" fmla="val 1987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pic>
        <p:nvPicPr>
          <p:cNvPr id="22" name="Image 2" descr="/Users/bruno/.codex/.chatgpt-projects/g-p-6ac7dbe994808191a54985dc5d276d5e/outputs/post-fb-conta-cor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8504" y="2651760"/>
            <a:ext cx="2523744" cy="135331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18504" y="41696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| 18/02/2026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6318504" y="44622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Nova conta de água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318504" y="48646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98</a:t>
            </a:r>
            <a:endParaRPr lang="en-US" sz="2700" dirty="0"/>
          </a:p>
        </p:txBody>
      </p:sp>
      <p:sp>
        <p:nvSpPr>
          <p:cNvPr id="26" name="Text 21"/>
          <p:cNvSpPr/>
          <p:nvPr/>
        </p:nvSpPr>
        <p:spPr>
          <a:xfrm>
            <a:off x="6318504" y="5349240"/>
            <a:ext cx="2523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607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9107424" y="2514600"/>
            <a:ext cx="2761488" cy="3246120"/>
          </a:xfrm>
          <a:prstGeom prst="roundRect">
            <a:avLst>
              <a:gd name="adj" fmla="val 1987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pic>
        <p:nvPicPr>
          <p:cNvPr id="28" name="Image 3" descr="/Users/bruno/.codex/.chatgpt-projects/g-p-6ac7dbe994808191a54985dc5d276d5e/outputs/post-fb-fatura-cor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6296" y="2651760"/>
            <a:ext cx="2523744" cy="135331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26296" y="4169664"/>
            <a:ext cx="2523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 | 14/08/2026</a:t>
            </a:r>
            <a:endParaRPr lang="en-US" sz="800" dirty="0"/>
          </a:p>
        </p:txBody>
      </p:sp>
      <p:sp>
        <p:nvSpPr>
          <p:cNvPr id="30" name="Text 24"/>
          <p:cNvSpPr/>
          <p:nvPr/>
        </p:nvSpPr>
        <p:spPr>
          <a:xfrm>
            <a:off x="9226296" y="44622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Fatura digital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226296" y="4864608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79</a:t>
            </a:r>
            <a:endParaRPr lang="en-US" sz="2700" dirty="0"/>
          </a:p>
        </p:txBody>
      </p:sp>
      <p:sp>
        <p:nvSpPr>
          <p:cNvPr id="32" name="Text 26"/>
          <p:cNvSpPr/>
          <p:nvPr/>
        </p:nvSpPr>
        <p:spPr>
          <a:xfrm>
            <a:off x="9226296" y="5349240"/>
            <a:ext cx="252374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interações | alcance 576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384048" y="5961888"/>
            <a:ext cx="114117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Instagram: curtidas, comentários, compartilhamentos e salvamentos. Facebook: reações, comentários e compartilhamentos.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90C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4048" y="256032"/>
            <a:ext cx="10058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9A5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| PRÓXIMOS TESTES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384048" y="6556248"/>
            <a:ext cx="11411712" cy="0"/>
          </a:xfrm>
          <a:prstGeom prst="line">
            <a:avLst/>
          </a:prstGeom>
          <a:noFill/>
          <a:ln w="10160">
            <a:solidFill>
              <a:srgbClr val="2F39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4048" y="6601968"/>
            <a:ext cx="10241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Análise das séries mensais e das publicações do DAE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11064240" y="6601968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ABB5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08/08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384048" y="658368"/>
            <a:ext cx="11430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3F3EE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CONTEÚDO ÚTIL,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384048" y="1207008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DISTRIBUIÇÃO CONSISTENTE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384048" y="1874520"/>
            <a:ext cx="11155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agência pode concentrar os próximos testes na distribuição de serviços e acompanhar as métricas de cada rede com a mesma régua.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84048" y="2743200"/>
            <a:ext cx="3675888" cy="2286000"/>
          </a:xfrm>
          <a:prstGeom prst="roundRect">
            <a:avLst>
              <a:gd name="adj" fmla="val 2400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880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48640" y="3621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MANTER A DISTRIBUIÇÃO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041648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Testar a distribuição regular de conteúdos de serviço e comparar meses com e sem mídia.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42816" y="2743200"/>
            <a:ext cx="3675888" cy="2286000"/>
          </a:xfrm>
          <a:prstGeom prst="roundRect">
            <a:avLst>
              <a:gd name="adj" fmla="val 2400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07408" y="2880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02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4407408" y="3621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DÚVIDAS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4041648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perguntas recorrentes em vídeos explicativos e peças de orientação prática.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01584" y="2743200"/>
            <a:ext cx="3675888" cy="2286000"/>
          </a:xfrm>
          <a:prstGeom prst="roundRect">
            <a:avLst>
              <a:gd name="adj" fmla="val 2400"/>
            </a:avLst>
          </a:prstGeom>
          <a:solidFill>
            <a:srgbClr val="121826"/>
          </a:solidFill>
          <a:ln w="8890">
            <a:solidFill>
              <a:srgbClr val="2F39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66176" y="2880360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B9A5FF"/>
                </a:solidFill>
                <a:latin typeface="Impact" pitchFamily="34" charset="0"/>
                <a:ea typeface="Impact" pitchFamily="34" charset="-122"/>
                <a:cs typeface="Impact" pitchFamily="34" charset="-12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8266176" y="3621024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3F3E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MEDIR POR REDE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66176" y="4041648"/>
            <a:ext cx="33375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4DD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Acompanhar seguidores, alcance, visualizadores e interações, respeitando cada definição.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4048" y="5413248"/>
            <a:ext cx="11411712" cy="411480"/>
          </a:xfrm>
          <a:prstGeom prst="roundRect">
            <a:avLst>
              <a:gd name="adj" fmla="val 13333"/>
            </a:avLst>
          </a:prstGeom>
          <a:solidFill>
            <a:srgbClr val="142440"/>
          </a:solidFill>
          <a:ln w="8890">
            <a:solidFill>
              <a:srgbClr val="14244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84048" y="5413248"/>
            <a:ext cx="45720" cy="411480"/>
          </a:xfrm>
          <a:prstGeom prst="rect">
            <a:avLst/>
          </a:prstGeom>
          <a:solidFill>
            <a:srgbClr val="3478FF"/>
          </a:solidFill>
          <a:ln w="12700">
            <a:solidFill>
              <a:srgbClr val="3478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9496" y="5486400"/>
            <a:ext cx="1104595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DCE4F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confirmação de impacto exige comparar campanhas, peças e períodos com controles equivalentes.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DAE Jundiaí | Estudo de redes sociais | Alternativa</dc:title>
  <dc:subject>Estudo de redes sociais do DAE Jundiaí, janeiro a setembro de 2026</dc:subject>
  <dc:creator>Esquina</dc:creator>
  <cp:lastModifiedBy>Esquina</cp:lastModifiedBy>
  <cp:revision>1</cp:revision>
  <dcterms:created xsi:type="dcterms:W3CDTF">2026-10-19T18:47:08Z</dcterms:created>
  <dcterms:modified xsi:type="dcterms:W3CDTF">2026-10-19T18:47:08Z</dcterms:modified>
</cp:coreProperties>
</file>