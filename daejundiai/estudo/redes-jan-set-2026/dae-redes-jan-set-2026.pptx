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Instagram</c:v>
                </c:pt>
              </c:strCache>
            </c:strRef>
          </c:tx>
          <c:spPr>
            <a:solidFill>
              <a:srgbClr val="526DB3"/>
            </a:solidFill>
            <a:ln w="25400" cap="flat">
              <a:solidFill>
                <a:srgbClr val="526DB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26DB3"/>
              </a:solidFill>
              <a:ln w="9525" cap="flat">
                <a:solidFill>
                  <a:srgbClr val="526DB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fev</c:v>
                  </c:pt>
                  <c:pt idx="2">
                    <c:v>mar</c:v>
                  </c:pt>
                  <c:pt idx="3">
                    <c:v>abr</c:v>
                  </c:pt>
                  <c:pt idx="4">
                    <c:v>mai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ago</c:v>
                  </c:pt>
                  <c:pt idx="8">
                    <c:v>set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9358</c:v>
                </c:pt>
                <c:pt idx="1">
                  <c:v>10452</c:v>
                </c:pt>
                <c:pt idx="2">
                  <c:v>11072</c:v>
                </c:pt>
                <c:pt idx="3">
                  <c:v>11278</c:v>
                </c:pt>
                <c:pt idx="4">
                  <c:v>11368</c:v>
                </c:pt>
                <c:pt idx="5">
                  <c:v>11489</c:v>
                </c:pt>
                <c:pt idx="6">
                  <c:v>11711</c:v>
                </c:pt>
                <c:pt idx="7">
                  <c:v>12124</c:v>
                </c:pt>
                <c:pt idx="8">
                  <c:v>12417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86176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000"/>
          <c:min val="9000"/>
        </c:scaling>
        <c:delete val="0"/>
        <c:axPos val="l"/>
        <c:majorGridlines>
          <c:spPr>
            <a:ln w="12700" cap="flat">
              <a:solidFill>
                <a:srgbClr val="E2E5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86176"/>
                </a:solidFill>
                <a:latin typeface="Apto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Facebook</c:v>
                </c:pt>
              </c:strCache>
            </c:strRef>
          </c:tx>
          <c:spPr>
            <a:solidFill>
              <a:srgbClr val="8D7AE4"/>
            </a:solidFill>
            <a:ln w="25400" cap="flat">
              <a:solidFill>
                <a:srgbClr val="8D7AE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8D7AE4"/>
              </a:solidFill>
              <a:ln w="9525" cap="flat">
                <a:solidFill>
                  <a:srgbClr val="8D7AE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fev</c:v>
                  </c:pt>
                  <c:pt idx="2">
                    <c:v>mar</c:v>
                  </c:pt>
                  <c:pt idx="3">
                    <c:v>abr</c:v>
                  </c:pt>
                  <c:pt idx="4">
                    <c:v>mai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ago</c:v>
                  </c:pt>
                  <c:pt idx="8">
                    <c:v>set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14084</c:v>
                </c:pt>
                <c:pt idx="1">
                  <c:v>14108</c:v>
                </c:pt>
                <c:pt idx="2">
                  <c:v>14120</c:v>
                </c:pt>
                <c:pt idx="3">
                  <c:v>14135</c:v>
                </c:pt>
                <c:pt idx="4">
                  <c:v>14142</c:v>
                </c:pt>
                <c:pt idx="5">
                  <c:v>14150</c:v>
                </c:pt>
                <c:pt idx="6">
                  <c:v>14160</c:v>
                </c:pt>
                <c:pt idx="7">
                  <c:v>14194</c:v>
                </c:pt>
                <c:pt idx="8">
                  <c:v>14224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86176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250"/>
          <c:min val="14050"/>
        </c:scaling>
        <c:delete val="0"/>
        <c:axPos val="l"/>
        <c:majorGridlines>
          <c:spPr>
            <a:ln w="12700" cap="flat">
              <a:solidFill>
                <a:srgbClr val="E2E5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86176"/>
                </a:solidFill>
                <a:latin typeface="Apto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Instagram, alcance mensal</c:v>
                </c:pt>
              </c:strCache>
            </c:strRef>
          </c:tx>
          <c:spPr>
            <a:solidFill>
              <a:srgbClr val="526DB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fev</c:v>
                  </c:pt>
                  <c:pt idx="2">
                    <c:v>mar</c:v>
                  </c:pt>
                  <c:pt idx="3">
                    <c:v>abr</c:v>
                  </c:pt>
                  <c:pt idx="4">
                    <c:v>mai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ago</c:v>
                  </c:pt>
                  <c:pt idx="8">
                    <c:v>set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54200</c:v>
                </c:pt>
                <c:pt idx="1">
                  <c:v>83300</c:v>
                </c:pt>
                <c:pt idx="2">
                  <c:v>49000</c:v>
                </c:pt>
                <c:pt idx="3">
                  <c:v>53000</c:v>
                </c:pt>
                <c:pt idx="4">
                  <c:v>24800</c:v>
                </c:pt>
                <c:pt idx="5">
                  <c:v>28500</c:v>
                </c:pt>
                <c:pt idx="6">
                  <c:v>79400</c:v>
                </c:pt>
                <c:pt idx="7">
                  <c:v>136300</c:v>
                </c:pt>
                <c:pt idx="8">
                  <c:v>67100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86176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000"/>
          <c:min val="0"/>
        </c:scaling>
        <c:delete val="0"/>
        <c:axPos val="l"/>
        <c:majorGridlines>
          <c:spPr>
            <a:ln w="12700" cap="flat">
              <a:solidFill>
                <a:srgbClr val="E2E5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86176"/>
                </a:solidFill>
                <a:latin typeface="Apto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Facebook, visualizadores mensais</c:v>
                </c:pt>
              </c:strCache>
            </c:strRef>
          </c:tx>
          <c:spPr>
            <a:solidFill>
              <a:srgbClr val="8D7AE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fev</c:v>
                  </c:pt>
                  <c:pt idx="2">
                    <c:v>mar</c:v>
                  </c:pt>
                  <c:pt idx="3">
                    <c:v>abr</c:v>
                  </c:pt>
                  <c:pt idx="4">
                    <c:v>mai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ago</c:v>
                  </c:pt>
                  <c:pt idx="8">
                    <c:v>set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22700</c:v>
                </c:pt>
                <c:pt idx="1">
                  <c:v>74500</c:v>
                </c:pt>
                <c:pt idx="2">
                  <c:v>6300</c:v>
                </c:pt>
                <c:pt idx="3">
                  <c:v>4900</c:v>
                </c:pt>
                <c:pt idx="4">
                  <c:v>3200</c:v>
                </c:pt>
                <c:pt idx="5">
                  <c:v>4000</c:v>
                </c:pt>
                <c:pt idx="6">
                  <c:v>45700</c:v>
                </c:pt>
                <c:pt idx="7">
                  <c:v>177500</c:v>
                </c:pt>
                <c:pt idx="8">
                  <c:v>116100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86176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000"/>
          <c:min val="0"/>
        </c:scaling>
        <c:delete val="0"/>
        <c:axPos val="l"/>
        <c:majorGridlines>
          <c:spPr>
            <a:ln w="12700" cap="flat">
              <a:solidFill>
                <a:srgbClr val="E2E5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86176"/>
                </a:solidFill>
                <a:latin typeface="Apto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Instagram, interações com conteúdo</c:v>
                </c:pt>
              </c:strCache>
            </c:strRef>
          </c:tx>
          <c:spPr>
            <a:solidFill>
              <a:srgbClr val="526DB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fev</c:v>
                  </c:pt>
                  <c:pt idx="2">
                    <c:v>mar</c:v>
                  </c:pt>
                  <c:pt idx="3">
                    <c:v>abr</c:v>
                  </c:pt>
                  <c:pt idx="4">
                    <c:v>mai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ago</c:v>
                  </c:pt>
                  <c:pt idx="8">
                    <c:v>set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2242</c:v>
                </c:pt>
                <c:pt idx="1">
                  <c:v>2332</c:v>
                </c:pt>
                <c:pt idx="2">
                  <c:v>6732</c:v>
                </c:pt>
                <c:pt idx="3">
                  <c:v>7098</c:v>
                </c:pt>
                <c:pt idx="4">
                  <c:v>3558</c:v>
                </c:pt>
                <c:pt idx="5">
                  <c:v>3059</c:v>
                </c:pt>
                <c:pt idx="6">
                  <c:v>2883</c:v>
                </c:pt>
                <c:pt idx="7">
                  <c:v>5557</c:v>
                </c:pt>
                <c:pt idx="8">
                  <c:v>4088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86176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00"/>
          <c:min val="0"/>
        </c:scaling>
        <c:delete val="0"/>
        <c:axPos val="l"/>
        <c:majorGridlines>
          <c:spPr>
            <a:ln w="12700" cap="flat">
              <a:solidFill>
                <a:srgbClr val="E2E5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86176"/>
                </a:solidFill>
                <a:latin typeface="Apto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Facebook, interações com conteúdo</c:v>
                </c:pt>
              </c:strCache>
            </c:strRef>
          </c:tx>
          <c:spPr>
            <a:solidFill>
              <a:srgbClr val="8D7AE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fev</c:v>
                  </c:pt>
                  <c:pt idx="2">
                    <c:v>mar</c:v>
                  </c:pt>
                  <c:pt idx="3">
                    <c:v>abr</c:v>
                  </c:pt>
                  <c:pt idx="4">
                    <c:v>mai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ago</c:v>
                  </c:pt>
                  <c:pt idx="8">
                    <c:v>set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345</c:v>
                </c:pt>
                <c:pt idx="1">
                  <c:v>588</c:v>
                </c:pt>
                <c:pt idx="2">
                  <c:v>897</c:v>
                </c:pt>
                <c:pt idx="3">
                  <c:v>683</c:v>
                </c:pt>
                <c:pt idx="4">
                  <c:v>531</c:v>
                </c:pt>
                <c:pt idx="5">
                  <c:v>446</c:v>
                </c:pt>
                <c:pt idx="6">
                  <c:v>665</c:v>
                </c:pt>
                <c:pt idx="7">
                  <c:v>3082</c:v>
                </c:pt>
                <c:pt idx="8">
                  <c:v>2573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86176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00"/>
          <c:min val="0"/>
        </c:scaling>
        <c:delete val="0"/>
        <c:axPos val="l"/>
        <c:majorGridlines>
          <c:spPr>
            <a:ln w="12700" cap="flat">
              <a:solidFill>
                <a:srgbClr val="E2E5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86176"/>
                </a:solidFill>
                <a:latin typeface="Apto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Seguidores ganhos: soma dos novos seguidores mensais registrados no Meta Business Suite, Resultados. Instagram: 4.533. Facebook: 236. Trata-se de entradas no período, não da variação da base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bases foram reconstruídas do total observado em 19/10/2026 e das variações mensais. Não são capturas históricas diretas da base de cada mês.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Alcance do Instagram e visualizadores do Facebook não foram somados.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Interações no Instagram: curtidas, comentários, compartilhamentos e salvamentos. No Facebook: reações, comentários e compartilhamentos. Imagens são capturas dos próprios posts.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824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B8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DAE JUNDIAÍ | RELATÓRIO DE REDES SOCIAIS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508760"/>
            <a:ext cx="8961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comunicação do DAE em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267712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900" b="1" i="1" dirty="0">
                <a:solidFill>
                  <a:srgbClr val="BDB1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nove meses</a:t>
            </a:r>
            <a:endParaRPr lang="en-US" sz="49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8869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i="1" dirty="0">
                <a:solidFill>
                  <a:srgbClr val="BDB1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janeiro a setembro de 2026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48640" y="397764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E2E5F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Evolução dos perfis institucionais do DAE Jundiaí no Instagram e no Facebook.</a:t>
            </a:r>
            <a:endParaRPr lang="en-US" sz="1800" dirty="0"/>
          </a:p>
        </p:txBody>
      </p:sp>
      <p:pic>
        <p:nvPicPr>
          <p:cNvPr id="7" name="Image 0" descr="/Users/bruno/.codex/.chatgpt-projects/g-p-6ac7dbe994808191a54985dc5d276d5e/outputs/dae-jundiai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3960" y="1600200"/>
            <a:ext cx="2560320" cy="10515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6510528"/>
            <a:ext cx="11091672" cy="0"/>
          </a:xfrm>
          <a:prstGeom prst="line">
            <a:avLst/>
          </a:prstGeom>
          <a:noFill/>
          <a:ln w="10160">
            <a:solidFill>
              <a:srgbClr val="7E87A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6565392"/>
            <a:ext cx="98755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C7CB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Fonte: Meta Business Suite e exportações de publicações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10424160" y="6565392"/>
            <a:ext cx="121615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C7CB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Apuração: 19/10/2026 | 01 / 07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382A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| RESUMO PARA A DIRETORIA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109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1320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Os dois perfis ampliaram a comunidade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38074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i="1" dirty="0">
                <a:solidFill>
                  <a:srgbClr val="6B63D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 geraram 47.359 interações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777240" cy="0"/>
          </a:xfrm>
          <a:prstGeom prst="line">
            <a:avLst/>
          </a:prstGeom>
          <a:noFill/>
          <a:ln w="25400">
            <a:solidFill>
              <a:srgbClr val="A08B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514600"/>
            <a:ext cx="3520440" cy="1444752"/>
          </a:xfrm>
          <a:prstGeom prst="rect">
            <a:avLst/>
          </a:prstGeom>
          <a:solidFill>
            <a:srgbClr val="FFFFFF"/>
          </a:solidFill>
          <a:ln w="11430">
            <a:solidFill>
              <a:srgbClr val="D9DC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2715768"/>
            <a:ext cx="3063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1320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+4.533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768096" y="3310128"/>
            <a:ext cx="30632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86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seguidores ganhos no Instagram, de janeiro a setembro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97680" y="2514600"/>
            <a:ext cx="3520440" cy="1444752"/>
          </a:xfrm>
          <a:prstGeom prst="rect">
            <a:avLst/>
          </a:prstGeom>
          <a:solidFill>
            <a:srgbClr val="FFFFFF"/>
          </a:solidFill>
          <a:ln w="11430">
            <a:solidFill>
              <a:srgbClr val="D9DC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17136" y="2715768"/>
            <a:ext cx="3063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1320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+236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4517136" y="3310128"/>
            <a:ext cx="30632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86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seguidores ganhos no Facebook, no mesmo período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46720" y="2514600"/>
            <a:ext cx="3520440" cy="1444752"/>
          </a:xfrm>
          <a:prstGeom prst="rect">
            <a:avLst/>
          </a:prstGeom>
          <a:solidFill>
            <a:srgbClr val="FFFFFF"/>
          </a:solidFill>
          <a:ln w="11430">
            <a:solidFill>
              <a:srgbClr val="D9DC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66176" y="2715768"/>
            <a:ext cx="3063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1320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47.359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8266176" y="3310128"/>
            <a:ext cx="30632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86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interações com conteúdo nos dois perfis, somadas nos nove meses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4187952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86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comunicação manteve presença contínua para informar sobre serviços, infraestrutura, uso da água e espaços administrados pelo DAE. Os resultados mostram resposta do público, sem atribuir os picos a uma única publicação.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6510528"/>
            <a:ext cx="11091672" cy="0"/>
          </a:xfrm>
          <a:prstGeom prst="line">
            <a:avLst/>
          </a:prstGeom>
          <a:noFill/>
          <a:ln w="10160">
            <a:solidFill>
              <a:srgbClr val="D9DC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6565392"/>
            <a:ext cx="98755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97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Fonte: Meta Business Suite, Resultados e Público. Seguidores ganhos e interações por perfil.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0424160" y="6565392"/>
            <a:ext cx="121615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697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Apuração: 19/10/2026 | 02 / 07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382A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| SEGUIDORES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1109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320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base de seguidores avançou mês a mês nos dois perfis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86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 Instagram passou de 9.358 seguidores no fim de janeiro para 12.417 em setembro. O Facebook passou de 14.084 para 14.224 no mesmo intervalo.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267712"/>
            <a:ext cx="5422392" cy="3886200"/>
          </a:xfrm>
          <a:prstGeom prst="rect">
            <a:avLst/>
          </a:prstGeom>
          <a:solidFill>
            <a:srgbClr val="FFFFFF"/>
          </a:solidFill>
          <a:ln w="11430">
            <a:solidFill>
              <a:srgbClr val="D9DC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377440"/>
            <a:ext cx="5056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320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Instagram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660904"/>
            <a:ext cx="5056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86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 de seguidores no fim de cada mês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749808" y="3026664"/>
          <a:ext cx="5010912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6217920" y="2267712"/>
            <a:ext cx="5422392" cy="3886200"/>
          </a:xfrm>
          <a:prstGeom prst="rect">
            <a:avLst/>
          </a:prstGeom>
          <a:solidFill>
            <a:srgbClr val="FFFFFF"/>
          </a:solidFill>
          <a:ln w="11430">
            <a:solidFill>
              <a:srgbClr val="D9DCE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0" y="2377440"/>
            <a:ext cx="5056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320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Facebook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0" y="2660904"/>
            <a:ext cx="5056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86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 de seguidores no fim de cada mês</a:t>
            </a:r>
            <a:endParaRPr lang="en-US" sz="1000" dirty="0"/>
          </a:p>
        </p:txBody>
      </p:sp>
      <p:graphicFrame>
        <p:nvGraphicFramePr>
          <p:cNvPr id="12" name="Chart 1" descr=""/>
          <p:cNvGraphicFramePr/>
          <p:nvPr/>
        </p:nvGraphicFramePr>
        <p:xfrm>
          <a:off x="6419088" y="3026664"/>
          <a:ext cx="5010912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Shape 9"/>
          <p:cNvSpPr/>
          <p:nvPr/>
        </p:nvSpPr>
        <p:spPr>
          <a:xfrm>
            <a:off x="548640" y="6510528"/>
            <a:ext cx="11091672" cy="0"/>
          </a:xfrm>
          <a:prstGeom prst="line">
            <a:avLst/>
          </a:prstGeom>
          <a:noFill/>
          <a:ln w="10160">
            <a:solidFill>
              <a:srgbClr val="D9DCE5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48640" y="6565392"/>
            <a:ext cx="98755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97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Fonte: Meta Business Suite, Público. Bases reconstruídas do total atual e das variações mensais.</a:t>
            </a:r>
            <a:endParaRPr lang="en-US" sz="750" dirty="0"/>
          </a:p>
        </p:txBody>
      </p:sp>
      <p:sp>
        <p:nvSpPr>
          <p:cNvPr id="15" name="Text 11"/>
          <p:cNvSpPr/>
          <p:nvPr/>
        </p:nvSpPr>
        <p:spPr>
          <a:xfrm>
            <a:off x="10424160" y="6565392"/>
            <a:ext cx="121615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697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Apuração: 19/10/2026 | 03 / 07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382A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| ALCANCE E VISUALIZADORES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1109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1320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distribuição teve seus maiores valores em agosto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86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 Instagram mostrou alcance de 136,3 mil em agosto. No Facebook, o painel mostrou 177,5 mil visualizadores. São métricas distintas e aparecem em gráficos separados.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267712"/>
            <a:ext cx="5422392" cy="3886200"/>
          </a:xfrm>
          <a:prstGeom prst="rect">
            <a:avLst/>
          </a:prstGeom>
          <a:solidFill>
            <a:srgbClr val="FFFFFF"/>
          </a:solidFill>
          <a:ln w="11430">
            <a:solidFill>
              <a:srgbClr val="D9DC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377440"/>
            <a:ext cx="5056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320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Instagram, alcance mensal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660904"/>
            <a:ext cx="5056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86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Pessoas alcançadas no mês, valor da plataforma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749808" y="3026664"/>
          <a:ext cx="5010912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6217920" y="2267712"/>
            <a:ext cx="5422392" cy="3886200"/>
          </a:xfrm>
          <a:prstGeom prst="rect">
            <a:avLst/>
          </a:prstGeom>
          <a:solidFill>
            <a:srgbClr val="FFFFFF"/>
          </a:solidFill>
          <a:ln w="11430">
            <a:solidFill>
              <a:srgbClr val="D9DCE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0" y="2377440"/>
            <a:ext cx="5056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320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Facebook, visualizadores mensais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0" y="2660904"/>
            <a:ext cx="5056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86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Métrica disponível no painel para o Facebook</a:t>
            </a:r>
            <a:endParaRPr lang="en-US" sz="1000" dirty="0"/>
          </a:p>
        </p:txBody>
      </p:sp>
      <p:graphicFrame>
        <p:nvGraphicFramePr>
          <p:cNvPr id="12" name="Chart 1" descr=""/>
          <p:cNvGraphicFramePr/>
          <p:nvPr/>
        </p:nvGraphicFramePr>
        <p:xfrm>
          <a:off x="6419088" y="3026664"/>
          <a:ext cx="5010912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Shape 9"/>
          <p:cNvSpPr/>
          <p:nvPr/>
        </p:nvSpPr>
        <p:spPr>
          <a:xfrm>
            <a:off x="548640" y="6510528"/>
            <a:ext cx="11091672" cy="0"/>
          </a:xfrm>
          <a:prstGeom prst="line">
            <a:avLst/>
          </a:prstGeom>
          <a:noFill/>
          <a:ln w="10160">
            <a:solidFill>
              <a:srgbClr val="D9DCE5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48640" y="6565392"/>
            <a:ext cx="98755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97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Fonte: Meta Business Suite, Resultados. Valores mensais arredondados pela plataforma.</a:t>
            </a:r>
            <a:endParaRPr lang="en-US" sz="750" dirty="0"/>
          </a:p>
        </p:txBody>
      </p:sp>
      <p:sp>
        <p:nvSpPr>
          <p:cNvPr id="15" name="Text 11"/>
          <p:cNvSpPr/>
          <p:nvPr/>
        </p:nvSpPr>
        <p:spPr>
          <a:xfrm>
            <a:off x="10424160" y="6565392"/>
            <a:ext cx="121615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697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Apuração: 19/10/2026 | 04 / 07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382A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| ENGAJAMENTO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1109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320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 interações tiveram picos distintos em cada rede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86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 Instagram registrou 7.098 interações em abril, seu maior mês. No Facebook, o pico ocorreu em agosto, com 3.082 interações.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267712"/>
            <a:ext cx="5422392" cy="3886200"/>
          </a:xfrm>
          <a:prstGeom prst="rect">
            <a:avLst/>
          </a:prstGeom>
          <a:solidFill>
            <a:srgbClr val="FFFFFF"/>
          </a:solidFill>
          <a:ln w="11430">
            <a:solidFill>
              <a:srgbClr val="D9DC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377440"/>
            <a:ext cx="5056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320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Instagram, interações com conteúdo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660904"/>
            <a:ext cx="5056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86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Soma mensal das interações diárias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749808" y="3026664"/>
          <a:ext cx="5010912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6217920" y="2267712"/>
            <a:ext cx="5422392" cy="3886200"/>
          </a:xfrm>
          <a:prstGeom prst="rect">
            <a:avLst/>
          </a:prstGeom>
          <a:solidFill>
            <a:srgbClr val="FFFFFF"/>
          </a:solidFill>
          <a:ln w="11430">
            <a:solidFill>
              <a:srgbClr val="D9DCE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0" y="2377440"/>
            <a:ext cx="5056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320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Facebook, interações com conteúdo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0" y="2660904"/>
            <a:ext cx="5056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86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Soma mensal das interações diárias</a:t>
            </a:r>
            <a:endParaRPr lang="en-US" sz="1000" dirty="0"/>
          </a:p>
        </p:txBody>
      </p:sp>
      <p:graphicFrame>
        <p:nvGraphicFramePr>
          <p:cNvPr id="12" name="Chart 1" descr=""/>
          <p:cNvGraphicFramePr/>
          <p:nvPr/>
        </p:nvGraphicFramePr>
        <p:xfrm>
          <a:off x="6419088" y="3026664"/>
          <a:ext cx="5010912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Shape 9"/>
          <p:cNvSpPr/>
          <p:nvPr/>
        </p:nvSpPr>
        <p:spPr>
          <a:xfrm>
            <a:off x="548640" y="6510528"/>
            <a:ext cx="11091672" cy="0"/>
          </a:xfrm>
          <a:prstGeom prst="line">
            <a:avLst/>
          </a:prstGeom>
          <a:noFill/>
          <a:ln w="10160">
            <a:solidFill>
              <a:srgbClr val="D9DCE5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48640" y="6565392"/>
            <a:ext cx="98755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97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Fonte: Meta Business Suite, Resultados. Interações somadas por mês e por rede.</a:t>
            </a:r>
            <a:endParaRPr lang="en-US" sz="750" dirty="0"/>
          </a:p>
        </p:txBody>
      </p:sp>
      <p:sp>
        <p:nvSpPr>
          <p:cNvPr id="15" name="Text 11"/>
          <p:cNvSpPr/>
          <p:nvPr/>
        </p:nvSpPr>
        <p:spPr>
          <a:xfrm>
            <a:off x="10424160" y="6565392"/>
            <a:ext cx="121615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697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Apuração: 19/10/2026 | 05 / 07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382A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| CONTEÚDOS DE DESTAQUE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109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320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Serviços e espaços públicos aparecem nos posts de destaque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529584" cy="1901952"/>
          </a:xfrm>
          <a:prstGeom prst="rect">
            <a:avLst/>
          </a:prstGeom>
          <a:solidFill>
            <a:srgbClr val="FFFFFF"/>
          </a:solidFill>
          <a:ln w="11430">
            <a:solidFill>
              <a:srgbClr val="D9DCE5"/>
            </a:solidFill>
            <a:prstDash val="solid"/>
          </a:ln>
        </p:spPr>
      </p:sp>
      <p:pic>
        <p:nvPicPr>
          <p:cNvPr id="5" name="Image 0" descr="/Users/bruno/.codex/.chatgpt-projects/g-p-6ac7dbe994808191a54985dc5d276d5e/outputs/post-ig-caminhada-cor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993392"/>
            <a:ext cx="1298448" cy="17556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011680" y="2048256"/>
            <a:ext cx="1956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6E73A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IG | Imagem | 16/03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2011680" y="2359152"/>
            <a:ext cx="19568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320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Caminhada da água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2011680" y="2834640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320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814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2011680" y="3300984"/>
            <a:ext cx="193852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86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interações | alcance 18.119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334256" y="1920240"/>
            <a:ext cx="3529584" cy="1901952"/>
          </a:xfrm>
          <a:prstGeom prst="rect">
            <a:avLst/>
          </a:prstGeom>
          <a:solidFill>
            <a:srgbClr val="FFFFFF"/>
          </a:solidFill>
          <a:ln w="11430">
            <a:solidFill>
              <a:srgbClr val="D9DCE5"/>
            </a:solidFill>
            <a:prstDash val="solid"/>
          </a:ln>
        </p:spPr>
      </p:sp>
      <p:pic>
        <p:nvPicPr>
          <p:cNvPr id="11" name="Image 1" descr="/Users/bruno/.codex/.chatgpt-projects/g-p-6ac7dbe994808191a54985dc5d276d5e/outputs/post-ig-lago-cor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7408" y="1993392"/>
            <a:ext cx="1298448" cy="175564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797296" y="2048256"/>
            <a:ext cx="1956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6E73A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IG | Reel | 15/01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5797296" y="2359152"/>
            <a:ext cx="19568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320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Lago do Mundo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5797296" y="2834640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320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687</a:t>
            </a:r>
            <a:endParaRPr lang="en-US" sz="2600" dirty="0"/>
          </a:p>
        </p:txBody>
      </p:sp>
      <p:sp>
        <p:nvSpPr>
          <p:cNvPr id="15" name="Text 11"/>
          <p:cNvSpPr/>
          <p:nvPr/>
        </p:nvSpPr>
        <p:spPr>
          <a:xfrm>
            <a:off x="5797296" y="3300984"/>
            <a:ext cx="193852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86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interações | alcance 40.994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8119872" y="1920240"/>
            <a:ext cx="3529584" cy="1901952"/>
          </a:xfrm>
          <a:prstGeom prst="rect">
            <a:avLst/>
          </a:prstGeom>
          <a:solidFill>
            <a:srgbClr val="FFFFFF"/>
          </a:solidFill>
          <a:ln w="11430">
            <a:solidFill>
              <a:srgbClr val="D9DCE5"/>
            </a:solidFill>
            <a:prstDash val="solid"/>
          </a:ln>
        </p:spPr>
      </p:sp>
      <p:pic>
        <p:nvPicPr>
          <p:cNvPr id="17" name="Image 2" descr="/Users/bruno/.codex/.chatgpt-projects/g-p-6ac7dbe994808191a54985dc5d276d5e/outputs/post-ig-hidratacao-cor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3024" y="1993392"/>
            <a:ext cx="1298448" cy="175564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582912" y="2048256"/>
            <a:ext cx="1956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6E73A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IG | Reel | 26/08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9582912" y="2359152"/>
            <a:ext cx="19568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320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Ponto de hidratação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9582912" y="2834640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320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635</a:t>
            </a:r>
            <a:endParaRPr lang="en-US" sz="2600" dirty="0"/>
          </a:p>
        </p:txBody>
      </p:sp>
      <p:sp>
        <p:nvSpPr>
          <p:cNvPr id="21" name="Text 16"/>
          <p:cNvSpPr/>
          <p:nvPr/>
        </p:nvSpPr>
        <p:spPr>
          <a:xfrm>
            <a:off x="9582912" y="3300984"/>
            <a:ext cx="193852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86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interações | alcance 8.979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548640" y="3977640"/>
            <a:ext cx="3529584" cy="1901952"/>
          </a:xfrm>
          <a:prstGeom prst="rect">
            <a:avLst/>
          </a:prstGeom>
          <a:solidFill>
            <a:srgbClr val="FFFFFF"/>
          </a:solidFill>
          <a:ln w="11430">
            <a:solidFill>
              <a:srgbClr val="D9DCE5"/>
            </a:solidFill>
            <a:prstDash val="solid"/>
          </a:ln>
        </p:spPr>
      </p:sp>
      <p:pic>
        <p:nvPicPr>
          <p:cNvPr id="23" name="Image 3" descr="/Users/bruno/.codex/.chatgpt-projects/g-p-6ac7dbe994808191a54985dc5d276d5e/outputs/post-fb-mulheres-cor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4050792"/>
            <a:ext cx="1298448" cy="1755648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2011680" y="4105656"/>
            <a:ext cx="1956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6E73A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FB | Vídeo | 08/03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2011680" y="4416552"/>
            <a:ext cx="19568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320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Mulheres do DAE</a:t>
            </a:r>
            <a:endParaRPr lang="en-US" sz="1500" dirty="0"/>
          </a:p>
        </p:txBody>
      </p:sp>
      <p:sp>
        <p:nvSpPr>
          <p:cNvPr id="26" name="Text 20"/>
          <p:cNvSpPr/>
          <p:nvPr/>
        </p:nvSpPr>
        <p:spPr>
          <a:xfrm>
            <a:off x="2011680" y="4892040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320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227</a:t>
            </a:r>
            <a:endParaRPr lang="en-US" sz="2600" dirty="0"/>
          </a:p>
        </p:txBody>
      </p:sp>
      <p:sp>
        <p:nvSpPr>
          <p:cNvPr id="27" name="Text 21"/>
          <p:cNvSpPr/>
          <p:nvPr/>
        </p:nvSpPr>
        <p:spPr>
          <a:xfrm>
            <a:off x="2011680" y="5358384"/>
            <a:ext cx="193852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86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interações | alcance 1.108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4334256" y="3977640"/>
            <a:ext cx="3529584" cy="1901952"/>
          </a:xfrm>
          <a:prstGeom prst="rect">
            <a:avLst/>
          </a:prstGeom>
          <a:solidFill>
            <a:srgbClr val="FFFFFF"/>
          </a:solidFill>
          <a:ln w="11430">
            <a:solidFill>
              <a:srgbClr val="D9DCE5"/>
            </a:solidFill>
            <a:prstDash val="solid"/>
          </a:ln>
        </p:spPr>
      </p:sp>
      <p:pic>
        <p:nvPicPr>
          <p:cNvPr id="29" name="Image 4" descr="/Users/bruno/.codex/.chatgpt-projects/g-p-6ac7dbe994808191a54985dc5d276d5e/outputs/post-fb-conta-cor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07408" y="4050792"/>
            <a:ext cx="1298448" cy="1755648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5797296" y="4105656"/>
            <a:ext cx="1956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6E73A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FB | Vídeo | 18/02</a:t>
            </a:r>
            <a:endParaRPr lang="en-US" sz="900" dirty="0"/>
          </a:p>
        </p:txBody>
      </p:sp>
      <p:sp>
        <p:nvSpPr>
          <p:cNvPr id="31" name="Text 24"/>
          <p:cNvSpPr/>
          <p:nvPr/>
        </p:nvSpPr>
        <p:spPr>
          <a:xfrm>
            <a:off x="5797296" y="4416552"/>
            <a:ext cx="19568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320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Nova conta de água</a:t>
            </a:r>
            <a:endParaRPr lang="en-US" sz="1500" dirty="0"/>
          </a:p>
        </p:txBody>
      </p:sp>
      <p:sp>
        <p:nvSpPr>
          <p:cNvPr id="32" name="Text 25"/>
          <p:cNvSpPr/>
          <p:nvPr/>
        </p:nvSpPr>
        <p:spPr>
          <a:xfrm>
            <a:off x="5797296" y="4892040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320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98</a:t>
            </a:r>
            <a:endParaRPr lang="en-US" sz="2600" dirty="0"/>
          </a:p>
        </p:txBody>
      </p:sp>
      <p:sp>
        <p:nvSpPr>
          <p:cNvPr id="33" name="Text 26"/>
          <p:cNvSpPr/>
          <p:nvPr/>
        </p:nvSpPr>
        <p:spPr>
          <a:xfrm>
            <a:off x="5797296" y="5358384"/>
            <a:ext cx="193852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86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interações | alcance 607</a:t>
            </a:r>
            <a:endParaRPr lang="en-US" sz="1000" dirty="0"/>
          </a:p>
        </p:txBody>
      </p:sp>
      <p:sp>
        <p:nvSpPr>
          <p:cNvPr id="34" name="Shape 27"/>
          <p:cNvSpPr/>
          <p:nvPr/>
        </p:nvSpPr>
        <p:spPr>
          <a:xfrm>
            <a:off x="8119872" y="3977640"/>
            <a:ext cx="3529584" cy="1901952"/>
          </a:xfrm>
          <a:prstGeom prst="rect">
            <a:avLst/>
          </a:prstGeom>
          <a:solidFill>
            <a:srgbClr val="FFFFFF"/>
          </a:solidFill>
          <a:ln w="11430">
            <a:solidFill>
              <a:srgbClr val="D9DCE5"/>
            </a:solidFill>
            <a:prstDash val="solid"/>
          </a:ln>
        </p:spPr>
      </p:sp>
      <p:pic>
        <p:nvPicPr>
          <p:cNvPr id="35" name="Image 5" descr="/Users/bruno/.codex/.chatgpt-projects/g-p-6ac7dbe994808191a54985dc5d276d5e/outputs/post-fb-fatura-cor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3024" y="4050792"/>
            <a:ext cx="1298448" cy="1755648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9582912" y="4105656"/>
            <a:ext cx="1956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6E73A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FB | Vídeo | 14/08</a:t>
            </a:r>
            <a:endParaRPr lang="en-US" sz="900" dirty="0"/>
          </a:p>
        </p:txBody>
      </p:sp>
      <p:sp>
        <p:nvSpPr>
          <p:cNvPr id="37" name="Text 29"/>
          <p:cNvSpPr/>
          <p:nvPr/>
        </p:nvSpPr>
        <p:spPr>
          <a:xfrm>
            <a:off x="9582912" y="4416552"/>
            <a:ext cx="19568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320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Fatura digital</a:t>
            </a:r>
            <a:endParaRPr lang="en-US" sz="1500" dirty="0"/>
          </a:p>
        </p:txBody>
      </p:sp>
      <p:sp>
        <p:nvSpPr>
          <p:cNvPr id="38" name="Text 30"/>
          <p:cNvSpPr/>
          <p:nvPr/>
        </p:nvSpPr>
        <p:spPr>
          <a:xfrm>
            <a:off x="9582912" y="4892040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320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79</a:t>
            </a:r>
            <a:endParaRPr lang="en-US" sz="2600" dirty="0"/>
          </a:p>
        </p:txBody>
      </p:sp>
      <p:sp>
        <p:nvSpPr>
          <p:cNvPr id="39" name="Text 31"/>
          <p:cNvSpPr/>
          <p:nvPr/>
        </p:nvSpPr>
        <p:spPr>
          <a:xfrm>
            <a:off x="9582912" y="5358384"/>
            <a:ext cx="193852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86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interações | alcance 576</a:t>
            </a:r>
            <a:endParaRPr lang="en-US" sz="1000" dirty="0"/>
          </a:p>
        </p:txBody>
      </p:sp>
      <p:sp>
        <p:nvSpPr>
          <p:cNvPr id="40" name="Shape 32"/>
          <p:cNvSpPr/>
          <p:nvPr/>
        </p:nvSpPr>
        <p:spPr>
          <a:xfrm>
            <a:off x="548640" y="6510528"/>
            <a:ext cx="11091672" cy="0"/>
          </a:xfrm>
          <a:prstGeom prst="line">
            <a:avLst/>
          </a:prstGeom>
          <a:noFill/>
          <a:ln w="10160">
            <a:solidFill>
              <a:srgbClr val="D9DCE5"/>
            </a:solidFill>
            <a:prstDash val="solid"/>
          </a:ln>
        </p:spPr>
      </p:sp>
      <p:sp>
        <p:nvSpPr>
          <p:cNvPr id="41" name="Text 33"/>
          <p:cNvSpPr/>
          <p:nvPr/>
        </p:nvSpPr>
        <p:spPr>
          <a:xfrm>
            <a:off x="548640" y="6565392"/>
            <a:ext cx="98755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97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Fonte: exportações de publicações do DAE, janeiro a setembro de 2026.</a:t>
            </a:r>
            <a:endParaRPr lang="en-US" sz="750" dirty="0"/>
          </a:p>
        </p:txBody>
      </p:sp>
      <p:sp>
        <p:nvSpPr>
          <p:cNvPr id="42" name="Text 34"/>
          <p:cNvSpPr/>
          <p:nvPr/>
        </p:nvSpPr>
        <p:spPr>
          <a:xfrm>
            <a:off x="10424160" y="6565392"/>
            <a:ext cx="121615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697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Apuração: 19/10/2026 | 06 / 07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824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B8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 | FECHAMENTO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1109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Os dados orientam os próximos testes da comunicação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E2E5F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equipe pode transformar os padrões observados em hipóteses de conteúdo, com acompanhamento mensal dos indicadores.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3520440" cy="0"/>
          </a:xfrm>
          <a:prstGeom prst="line">
            <a:avLst/>
          </a:prstGeom>
          <a:noFill/>
          <a:ln w="38100">
            <a:solidFill>
              <a:srgbClr val="A08B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724912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4700" dirty="0"/>
          </a:p>
        </p:txBody>
      </p:sp>
      <p:sp>
        <p:nvSpPr>
          <p:cNvPr id="7" name="Text 5"/>
          <p:cNvSpPr/>
          <p:nvPr/>
        </p:nvSpPr>
        <p:spPr>
          <a:xfrm>
            <a:off x="548640" y="3630168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Repetir formatos com resposta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4416552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DCE0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Testar novos vídeos explicativos e peças de serviço, tomando os posts de destaque como referência editorial.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297680" y="2468880"/>
            <a:ext cx="3520440" cy="0"/>
          </a:xfrm>
          <a:prstGeom prst="line">
            <a:avLst/>
          </a:prstGeom>
          <a:noFill/>
          <a:ln w="38100">
            <a:solidFill>
              <a:srgbClr val="A08B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0" y="2724912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4700" dirty="0"/>
          </a:p>
        </p:txBody>
      </p:sp>
      <p:sp>
        <p:nvSpPr>
          <p:cNvPr id="11" name="Text 9"/>
          <p:cNvSpPr/>
          <p:nvPr/>
        </p:nvSpPr>
        <p:spPr>
          <a:xfrm>
            <a:off x="4297680" y="3630168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Responder dúvidas recorrentes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297680" y="4416552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DCE0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Usar perguntas dos comentários para tornar informações práticas mais claras nas próximas publicações.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046720" y="2468880"/>
            <a:ext cx="3520440" cy="0"/>
          </a:xfrm>
          <a:prstGeom prst="line">
            <a:avLst/>
          </a:prstGeom>
          <a:noFill/>
          <a:ln w="38100">
            <a:solidFill>
              <a:srgbClr val="A08B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46720" y="2724912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4700" dirty="0"/>
          </a:p>
        </p:txBody>
      </p:sp>
      <p:sp>
        <p:nvSpPr>
          <p:cNvPr id="15" name="Text 13"/>
          <p:cNvSpPr/>
          <p:nvPr/>
        </p:nvSpPr>
        <p:spPr>
          <a:xfrm>
            <a:off x="8046720" y="3630168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Revisar meses de menor resposta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046720" y="4416552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DCE0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Conferir temas, formatos, frequência e distribuição antes de associar um pico a uma única peça.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48640" y="5815584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DCE0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Bases mensais de seguidores reconstruídas a partir do total atual e das variações do Business Suite. O Facebook apresenta visualizadores no painel consultado.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6510528"/>
            <a:ext cx="11091672" cy="0"/>
          </a:xfrm>
          <a:prstGeom prst="line">
            <a:avLst/>
          </a:prstGeom>
          <a:noFill/>
          <a:ln w="10160">
            <a:solidFill>
              <a:srgbClr val="7E87A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6565392"/>
            <a:ext cx="98755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C7CB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Fonte: análise das séries mensais e das publicações do DAE.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0424160" y="6565392"/>
            <a:ext cx="121615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C7CB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Apuração: 19/10/2026 | 07 / 07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Comunicação do DAE Jundiaí em nove meses</dc:title>
  <dc:subject>Evolução das redes sociais do DAE Jundiaí, janeiro a setembro de 2026</dc:subject>
  <dc:creator>Esquina</dc:creator>
  <cp:lastModifiedBy>Esquina</cp:lastModifiedBy>
  <cp:revision>1</cp:revision>
  <dcterms:created xsi:type="dcterms:W3CDTF">2026-10-19T15:47:32Z</dcterms:created>
  <dcterms:modified xsi:type="dcterms:W3CDTF">2026-10-19T15:47:32Z</dcterms:modified>
</cp:coreProperties>
</file>