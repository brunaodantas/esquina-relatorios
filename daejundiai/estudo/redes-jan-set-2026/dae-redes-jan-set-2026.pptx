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14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rgbClr val="526DB3"/>
            </a:solidFill>
            <a:ln w="25400" cap="flat">
              <a:solidFill>
                <a:srgbClr val="526DB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26DB3"/>
              </a:solidFill>
              <a:ln w="9525" cap="flat">
                <a:solidFill>
                  <a:srgbClr val="526DB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9358</c:v>
                </c:pt>
                <c:pt idx="1">
                  <c:v>10452</c:v>
                </c:pt>
                <c:pt idx="2">
                  <c:v>11072</c:v>
                </c:pt>
                <c:pt idx="3">
                  <c:v>11278</c:v>
                </c:pt>
                <c:pt idx="4">
                  <c:v>11368</c:v>
                </c:pt>
                <c:pt idx="5">
                  <c:v>11489</c:v>
                </c:pt>
                <c:pt idx="6">
                  <c:v>11711</c:v>
                </c:pt>
                <c:pt idx="7">
                  <c:v>12124</c:v>
                </c:pt>
                <c:pt idx="8">
                  <c:v>12417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17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0"/>
          <c:min val="9000"/>
        </c:scaling>
        <c:delete val="0"/>
        <c:axPos val="l"/>
        <c:majorGridlines>
          <c:spPr>
            <a:ln w="12700" cap="flat">
              <a:solidFill>
                <a:srgbClr val="E2E5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17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rgbClr val="8D7AE4"/>
            </a:solidFill>
            <a:ln w="25400" cap="flat">
              <a:solidFill>
                <a:srgbClr val="8D7AE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D7AE4"/>
              </a:solidFill>
              <a:ln w="9525" cap="flat">
                <a:solidFill>
                  <a:srgbClr val="8D7AE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14084</c:v>
                </c:pt>
                <c:pt idx="1">
                  <c:v>14108</c:v>
                </c:pt>
                <c:pt idx="2">
                  <c:v>14120</c:v>
                </c:pt>
                <c:pt idx="3">
                  <c:v>14135</c:v>
                </c:pt>
                <c:pt idx="4">
                  <c:v>14142</c:v>
                </c:pt>
                <c:pt idx="5">
                  <c:v>14150</c:v>
                </c:pt>
                <c:pt idx="6">
                  <c:v>14160</c:v>
                </c:pt>
                <c:pt idx="7">
                  <c:v>14194</c:v>
                </c:pt>
                <c:pt idx="8">
                  <c:v>14224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17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250"/>
          <c:min val="14050"/>
        </c:scaling>
        <c:delete val="0"/>
        <c:axPos val="l"/>
        <c:majorGridlines>
          <c:spPr>
            <a:ln w="12700" cap="flat">
              <a:solidFill>
                <a:srgbClr val="E2E5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17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Instagram, alcance mensal</c:v>
                </c:pt>
              </c:strCache>
            </c:strRef>
          </c:tx>
          <c:spPr>
            <a:solidFill>
              <a:srgbClr val="526D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54200</c:v>
                </c:pt>
                <c:pt idx="1">
                  <c:v>83300</c:v>
                </c:pt>
                <c:pt idx="2">
                  <c:v>49000</c:v>
                </c:pt>
                <c:pt idx="3">
                  <c:v>53000</c:v>
                </c:pt>
                <c:pt idx="4">
                  <c:v>24800</c:v>
                </c:pt>
                <c:pt idx="5">
                  <c:v>28500</c:v>
                </c:pt>
                <c:pt idx="6">
                  <c:v>79400</c:v>
                </c:pt>
                <c:pt idx="7">
                  <c:v>136300</c:v>
                </c:pt>
                <c:pt idx="8">
                  <c:v>67100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17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00"/>
          <c:min val="0"/>
        </c:scaling>
        <c:delete val="0"/>
        <c:axPos val="l"/>
        <c:majorGridlines>
          <c:spPr>
            <a:ln w="12700" cap="flat">
              <a:solidFill>
                <a:srgbClr val="E2E5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17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Facebook, visualizadores mensais</c:v>
                </c:pt>
              </c:strCache>
            </c:strRef>
          </c:tx>
          <c:spPr>
            <a:solidFill>
              <a:srgbClr val="8D7A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22700</c:v>
                </c:pt>
                <c:pt idx="1">
                  <c:v>74500</c:v>
                </c:pt>
                <c:pt idx="2">
                  <c:v>6300</c:v>
                </c:pt>
                <c:pt idx="3">
                  <c:v>4900</c:v>
                </c:pt>
                <c:pt idx="4">
                  <c:v>3200</c:v>
                </c:pt>
                <c:pt idx="5">
                  <c:v>4000</c:v>
                </c:pt>
                <c:pt idx="6">
                  <c:v>45700</c:v>
                </c:pt>
                <c:pt idx="7">
                  <c:v>177500</c:v>
                </c:pt>
                <c:pt idx="8">
                  <c:v>116100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17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00"/>
          <c:min val="0"/>
        </c:scaling>
        <c:delete val="0"/>
        <c:axPos val="l"/>
        <c:majorGridlines>
          <c:spPr>
            <a:ln w="12700" cap="flat">
              <a:solidFill>
                <a:srgbClr val="E2E5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17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Instagram, interações com conteúdo</c:v>
                </c:pt>
              </c:strCache>
            </c:strRef>
          </c:tx>
          <c:spPr>
            <a:solidFill>
              <a:srgbClr val="526D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2242</c:v>
                </c:pt>
                <c:pt idx="1">
                  <c:v>2332</c:v>
                </c:pt>
                <c:pt idx="2">
                  <c:v>6732</c:v>
                </c:pt>
                <c:pt idx="3">
                  <c:v>7098</c:v>
                </c:pt>
                <c:pt idx="4">
                  <c:v>3558</c:v>
                </c:pt>
                <c:pt idx="5">
                  <c:v>3059</c:v>
                </c:pt>
                <c:pt idx="6">
                  <c:v>2883</c:v>
                </c:pt>
                <c:pt idx="7">
                  <c:v>5557</c:v>
                </c:pt>
                <c:pt idx="8">
                  <c:v>4088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17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"/>
          <c:min val="0"/>
        </c:scaling>
        <c:delete val="0"/>
        <c:axPos val="l"/>
        <c:majorGridlines>
          <c:spPr>
            <a:ln w="12700" cap="flat">
              <a:solidFill>
                <a:srgbClr val="E2E5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17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Facebook, interações com conteúdo</c:v>
                </c:pt>
              </c:strCache>
            </c:strRef>
          </c:tx>
          <c:spPr>
            <a:solidFill>
              <a:srgbClr val="8D7AE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345</c:v>
                </c:pt>
                <c:pt idx="1">
                  <c:v>588</c:v>
                </c:pt>
                <c:pt idx="2">
                  <c:v>897</c:v>
                </c:pt>
                <c:pt idx="3">
                  <c:v>683</c:v>
                </c:pt>
                <c:pt idx="4">
                  <c:v>531</c:v>
                </c:pt>
                <c:pt idx="5">
                  <c:v>446</c:v>
                </c:pt>
                <c:pt idx="6">
                  <c:v>665</c:v>
                </c:pt>
                <c:pt idx="7">
                  <c:v>3082</c:v>
                </c:pt>
                <c:pt idx="8">
                  <c:v>2573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176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0"/>
          <c:min val="0"/>
        </c:scaling>
        <c:delete val="0"/>
        <c:axPos val="l"/>
        <c:majorGridlines>
          <c:spPr>
            <a:ln w="12700" cap="flat">
              <a:solidFill>
                <a:srgbClr val="E2E5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17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Seguidores ganhos: soma dos novos seguidores mensais registrados no Meta Business Suite, Resultados. Instagram: 4.533. Facebook: 236. Trata-se de entradas no período, não da variação da base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bases foram reconstruídas do total observado em 19/10/2026 e das variações mensais. Não são capturas históricas diretas da base de cada mês.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Alcance do Instagram e visualizadores do Facebook não foram somados.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Interações no Instagram: curtidas, comentários, compartilhamentos e salvamentos. No Facebook: reações, comentários e compartilhamentos. Imagens são capturas dos próprios posts.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chart" Target="..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Relationship Id="rId9" Type="http://schemas.openxmlformats.org/officeDocument/2006/relationships/hyperlink" Target="https://www.instagram.com/p/DV8d2fcgBjV/" TargetMode="External"/><Relationship Id="rId10" Type="http://schemas.openxmlformats.org/officeDocument/2006/relationships/hyperlink" Target="https://www.instagram.com/reel/DTiyg56EzCP/" TargetMode="External"/><Relationship Id="rId11" Type="http://schemas.openxmlformats.org/officeDocument/2006/relationships/hyperlink" Target="https://www.instagram.com/reel/DchRdQrgAUP/" TargetMode="External"/><Relationship Id="rId12" Type="http://schemas.openxmlformats.org/officeDocument/2006/relationships/hyperlink" Target="https://www.facebook.com/reel/1474072870949987/" TargetMode="External"/><Relationship Id="rId13" Type="http://schemas.openxmlformats.org/officeDocument/2006/relationships/hyperlink" Target="https://www.facebook.com/reel/1444071290555587/" TargetMode="External"/><Relationship Id="rId14" Type="http://schemas.openxmlformats.org/officeDocument/2006/relationships/hyperlink" Target="https://www.facebook.com/reel/1044014738609474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200">
                <a:solidFill>
                  <a:srgbClr val="AFBDF1"/>
                </a:solidFill>
                <a:latin typeface="Aptos"/>
              </a:rPr>
              <a:t>RELATÓRIO DE REDES SOCIAIS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8961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comunicação do DAE 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26771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i="1" dirty="0">
                <a:solidFill>
                  <a:srgbClr val="BDB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nove meses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i="1" dirty="0">
                <a:solidFill>
                  <a:srgbClr val="BDB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janeiro a setembro de 2026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800">
                <a:solidFill>
                  <a:srgbClr val="D8E0EF"/>
                </a:solidFill>
                <a:latin typeface="Aptos"/>
              </a:rPr>
              <a:t>Evolução dos perfis institucionais no Instagram e no Facebook.</a:t>
            </a:r>
            <a:endParaRPr lang="en-US" sz="1800" dirty="0"/>
          </a:p>
        </p:txBody>
      </p:sp>
      <p:pic>
        <p:nvPicPr>
          <p:cNvPr id="7" name="Image 0" descr="/Users/bruno/.codex/.chatgpt-projects/g-p-6ac7dbe994808191a54985dc5d276d5e/outputs/dae-jundia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1600200"/>
            <a:ext cx="2560320" cy="1051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0160">
            <a:solidFill>
              <a:srgbClr val="7E87A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48640" y="6565392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7CB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Meta Business Suite e exportações de publicações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424160" y="6565392"/>
            <a:ext cx="1216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sz="800">
                <a:solidFill>
                  <a:srgbClr val="67738E"/>
                </a:solidFill>
                <a:latin typeface="Aptos"/>
              </a:rPr>
              <a:t>Apuração: 19/10/2026 | 01 / 08</a:t>
            </a:r>
            <a:endParaRPr lang="en-US" sz="750" dirty="0"/>
          </a:p>
        </p:txBody>
      </p:sp>
      <p:sp>
        <p:nvSpPr>
          <p:cNvPr id="11" name="Escopo desta edicao"/>
          <p:cNvSpPr txBox="1"/>
          <p:nvPr/>
        </p:nvSpPr>
        <p:spPr>
          <a:xfrm>
            <a:off x="548640" y="4855464"/>
            <a:ext cx="10835640" cy="2926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D4DAEC"/>
                </a:solidFill>
                <a:latin typeface="Aptos"/>
              </a:rPr>
              <a:t>Escopo: exclusivamente os perfis institucionais do DAE Jundiaí no Instagram e Facebook.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382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| RESUMO PARA A DIRETORIA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dois perfis ampliaram a comunidade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80744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i="1" dirty="0">
                <a:solidFill>
                  <a:srgbClr val="6B63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geraram 47.359 interações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777240" cy="0"/>
          </a:xfrm>
          <a:prstGeom prst="line">
            <a:avLst/>
          </a:prstGeom>
          <a:noFill/>
          <a:ln w="25400">
            <a:solidFill>
              <a:srgbClr val="A08BF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2514600"/>
            <a:ext cx="3520440" cy="144475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68096" y="2715768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+4.533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68096" y="3310128"/>
            <a:ext cx="3063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seguidores ganhos no Instagram, de janeiro a setembro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2514600"/>
            <a:ext cx="3520440" cy="144475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17136" y="2715768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+236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17136" y="3310128"/>
            <a:ext cx="3063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seguidores ganhos no Facebook, no mesmo período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514600"/>
            <a:ext cx="3520440" cy="144475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66176" y="2715768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47.359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66176" y="3310128"/>
            <a:ext cx="3063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com conteúdo nos dois perfis, somadas nos nove meses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187952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900">
                <a:solidFill>
                  <a:srgbClr val="192448"/>
                </a:solidFill>
                <a:latin typeface="Aptos"/>
              </a:rPr>
              <a:t>De janeiro a setembro, o conteúdo do DAE gerou 47.359 interações. Em julho começou a mídia identificada no controle; agosto reuniu investimento e os maiores resultados de distribuição, reforçando o papel conjunto de conteúdo relevante e mídia.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0160">
            <a:solidFill>
              <a:srgbClr val="D9DCE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6565392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971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Meta Business Suite, Resultados e Público. Seguidores ganhos e interações por perfil.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424160" y="6565392"/>
            <a:ext cx="1216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sz="800">
                <a:solidFill>
                  <a:srgbClr val="67738E"/>
                </a:solidFill>
                <a:latin typeface="Aptos"/>
              </a:rPr>
              <a:t>Apuração: 19/10/2026 | 02 / 08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382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| SEGUIDORES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3000">
                <a:solidFill>
                  <a:srgbClr val="192448"/>
                </a:solidFill>
                <a:latin typeface="Aptos"/>
              </a:rPr>
              <a:t>Seguidores: avanços em fevereiro e agosto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500">
                <a:solidFill>
                  <a:srgbClr val="4C5975"/>
                </a:solidFill>
                <a:latin typeface="Aptos"/>
              </a:rPr>
              <a:t>A maior alta mensal do Instagram foi em fevereiro (+1.094 seguidores líquidos), antes da mídia registrada. Em agosto, com mídia, houve +413 no Instagram e +34 no Facebook.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67712"/>
            <a:ext cx="5422392" cy="3886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60904"/>
            <a:ext cx="5056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seguidores no fim de cada mês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49808" y="3026664"/>
          <a:ext cx="5010912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217920" y="2267712"/>
            <a:ext cx="5422392" cy="3886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00800" y="2377440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0" y="2660904"/>
            <a:ext cx="5056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seguidores no fim de cada mês</a:t>
            </a:r>
            <a:endParaRPr lang="en-US" sz="10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419088" y="3026664"/>
          <a:ext cx="5010912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0160">
            <a:solidFill>
              <a:srgbClr val="D9DCE5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548640" y="6565392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971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Meta Business Suite, Público. Bases reconstruídas do total atual e das variações mensais.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0424160" y="6565392"/>
            <a:ext cx="1216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sz="800">
                <a:solidFill>
                  <a:srgbClr val="67738E"/>
                </a:solidFill>
                <a:latin typeface="Aptos"/>
              </a:rPr>
              <a:t>Apuração: 19/10/2026 | 03 / 08</a:t>
            </a:r>
            <a:endParaRPr lang="en-US" sz="750" dirty="0"/>
          </a:p>
        </p:txBody>
      </p:sp>
      <p:sp>
        <p:nvSpPr>
          <p:cNvPr id="16" name="Rounded Rectangle 15"/>
          <p:cNvSpPr/>
          <p:nvPr/>
        </p:nvSpPr>
        <p:spPr>
          <a:xfrm>
            <a:off x="566928" y="6044184"/>
            <a:ext cx="11018520" cy="393192"/>
          </a:xfrm>
          <a:prstGeom prst="roundRect">
            <a:avLst>
              <a:gd name="adj" fmla="val 12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126480"/>
            <a:ext cx="10716768" cy="2468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40" b="0">
                <a:solidFill>
                  <a:srgbClr val="243B70"/>
                </a:solidFill>
                <a:latin typeface="Aptos"/>
              </a:defRPr>
            </a:pPr>
            <a:r>
              <a:t>LEITURA  |  Fevereiro: avanço sem mídia registrada. Agosto: crescimento da base durante a presença de campanhas, sem atribuição exclusiva aos anúncios.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382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| ALCANCE E VISUALIZADORES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3000">
                <a:solidFill>
                  <a:srgbClr val="192448"/>
                </a:solidFill>
                <a:latin typeface="Aptos"/>
              </a:rPr>
              <a:t>Agosto: a maior distribuição do período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500">
                <a:solidFill>
                  <a:srgbClr val="4C5975"/>
                </a:solidFill>
                <a:latin typeface="Aptos"/>
              </a:rPr>
              <a:t>Agosto concentrou os máximos durante o investimento: 136,3 mil pessoas alcançadas no Instagram (+71,7% ante julho) e 177,5 mil visualizadores no Facebook (+288,4%).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67712"/>
            <a:ext cx="5422392" cy="3886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Instagram, alcance mensal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60904"/>
            <a:ext cx="5056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Pessoas alcançadas no mês, valor da plataforma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49808" y="3026664"/>
          <a:ext cx="5010912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217920" y="2267712"/>
            <a:ext cx="5422392" cy="3886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00800" y="2377440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Facebook, visualizadores mensais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0" y="2660904"/>
            <a:ext cx="5056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 disponível no painel para o Facebook</a:t>
            </a:r>
            <a:endParaRPr lang="en-US" sz="10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419088" y="3026664"/>
          <a:ext cx="5010912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0160">
            <a:solidFill>
              <a:srgbClr val="D9DCE5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548640" y="6565392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971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Meta Business Suite, Resultados. Valores mensais arredondados pela plataforma.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0424160" y="6565392"/>
            <a:ext cx="1216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sz="800">
                <a:solidFill>
                  <a:srgbClr val="67738E"/>
                </a:solidFill>
                <a:latin typeface="Aptos"/>
              </a:rPr>
              <a:t>Apuração: 19/10/2026 | 04 / 08</a:t>
            </a:r>
            <a:endParaRPr lang="en-US" sz="750" dirty="0"/>
          </a:p>
        </p:txBody>
      </p:sp>
      <p:sp>
        <p:nvSpPr>
          <p:cNvPr id="16" name="Rounded Rectangle 15"/>
          <p:cNvSpPr/>
          <p:nvPr/>
        </p:nvSpPr>
        <p:spPr>
          <a:xfrm>
            <a:off x="566928" y="6044184"/>
            <a:ext cx="11018520" cy="393192"/>
          </a:xfrm>
          <a:prstGeom prst="roundRect">
            <a:avLst>
              <a:gd name="adj" fmla="val 12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126480"/>
            <a:ext cx="10716768" cy="2468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40" b="0">
                <a:solidFill>
                  <a:srgbClr val="243B70"/>
                </a:solidFill>
                <a:latin typeface="Aptos"/>
              </a:defRPr>
            </a:pPr>
            <a:r>
              <a:t>LEITURA  |  Agosto reuniu investimento em CPM, CPE, CPV e CPC; a simultaneidade reforça o valor estratégico da distribuição patrocinada.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382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| ENGAJAMENTO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3000">
                <a:solidFill>
                  <a:srgbClr val="192448"/>
                </a:solidFill>
                <a:latin typeface="Aptos"/>
              </a:rPr>
              <a:t>Engajamento: força do conteúdo e da mídia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500">
                <a:solidFill>
                  <a:srgbClr val="4C5975"/>
                </a:solidFill>
                <a:latin typeface="Aptos"/>
              </a:rPr>
              <a:t>O Instagram teve seu pico em abril (7.098 interações), antes da mídia identificada. Em agosto, as interações cresceram 92,8% no Instagram e 363,5% no Facebook ante julho.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67712"/>
            <a:ext cx="5422392" cy="3886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Instagram, interações com conteúdo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60904"/>
            <a:ext cx="5056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Soma mensal das interações diárias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49808" y="3026664"/>
          <a:ext cx="5010912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217920" y="2267712"/>
            <a:ext cx="5422392" cy="3886200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00800" y="2377440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Facebook, interações com conteúdo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0" y="2660904"/>
            <a:ext cx="5056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Soma mensal das interações diárias</a:t>
            </a:r>
            <a:endParaRPr lang="en-US" sz="10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419088" y="3026664"/>
          <a:ext cx="5010912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0160">
            <a:solidFill>
              <a:srgbClr val="D9DCE5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548640" y="6565392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971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Meta Business Suite, Resultados. Interações somadas por mês e por rede.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0424160" y="6565392"/>
            <a:ext cx="1216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sz="800">
                <a:solidFill>
                  <a:srgbClr val="67738E"/>
                </a:solidFill>
                <a:latin typeface="Aptos"/>
              </a:rPr>
              <a:t>Apuração: 19/10/2026 | 05 / 08</a:t>
            </a:r>
            <a:endParaRPr lang="en-US" sz="750" dirty="0"/>
          </a:p>
        </p:txBody>
      </p:sp>
      <p:sp>
        <p:nvSpPr>
          <p:cNvPr id="16" name="Rounded Rectangle 15"/>
          <p:cNvSpPr/>
          <p:nvPr/>
        </p:nvSpPr>
        <p:spPr>
          <a:xfrm>
            <a:off x="566928" y="6044184"/>
            <a:ext cx="11018520" cy="393192"/>
          </a:xfrm>
          <a:prstGeom prst="roundRect">
            <a:avLst>
              <a:gd name="adj" fmla="val 12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6126480"/>
            <a:ext cx="10716768" cy="24688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040" b="0">
                <a:solidFill>
                  <a:srgbClr val="243B70"/>
                </a:solidFill>
                <a:latin typeface="Aptos"/>
              </a:defRPr>
            </a:pPr>
            <a:r>
              <a:t>LEITURA  |  Conteúdo mobilizou a audiência em março/abril; em agosto, conteúdo e mídia caminharam juntos nos avanços das duas redes.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382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| CONTEÚDOS DE DESTAQUE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3100">
                <a:solidFill>
                  <a:srgbClr val="192448"/>
                </a:solidFill>
                <a:latin typeface="Aptos"/>
              </a:rPr>
              <a:t>Conteúdos do DAE que mobilizaram o público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9584" cy="190195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Users/bruno/.codex/.chatgpt-projects/g-p-6ac7dbe994808191a54985dc5d276d5e/outputs/post-ig-caminhada-corte.png">
            <a:hlinkClick r:id="rId9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93392"/>
            <a:ext cx="1298448" cy="17556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204825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E7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 | Imagem | 16/03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011680" y="2359152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Caminhada da água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011680" y="28346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814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011680" y="3300984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| alcance 18.119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34256" y="1920240"/>
            <a:ext cx="3529584" cy="190195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/Users/bruno/.codex/.chatgpt-projects/g-p-6ac7dbe994808191a54985dc5d276d5e/outputs/post-ig-lago-corte.png">
            <a:hlinkClick r:id="rId10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993392"/>
            <a:ext cx="1298448" cy="17556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97296" y="204825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E7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 | Reel | 15/01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797296" y="2359152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Lago do Mundo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797296" y="28346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687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5797296" y="3300984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| alcance 40.994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19872" y="1920240"/>
            <a:ext cx="3529584" cy="190195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/Users/bruno/.codex/.chatgpt-projects/g-p-6ac7dbe994808191a54985dc5d276d5e/outputs/post-ig-hidratacao-corte.png">
            <a:hlinkClick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1993392"/>
            <a:ext cx="1298448" cy="17556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582912" y="204825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E7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 | Reel | 26/08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9582912" y="2359152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de hidratação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9582912" y="28346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635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9582912" y="3300984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| alcance 8.979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977640"/>
            <a:ext cx="3529584" cy="190195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pic>
        <p:nvPicPr>
          <p:cNvPr id="23" name="Image 3" descr="/Users/bruno/.codex/.chatgpt-projects/g-p-6ac7dbe994808191a54985dc5d276d5e/outputs/post-fb-mulheres-corte.png">
            <a:hlinkClick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050792"/>
            <a:ext cx="1298448" cy="17556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011680" y="410565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E7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FB | Vídeo | 08/03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2011680" y="4416552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Mulheres do DAE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2011680" y="48920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227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2011680" y="5358384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| alcance 1.108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334256" y="3977640"/>
            <a:ext cx="3529584" cy="190195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pic>
        <p:nvPicPr>
          <p:cNvPr id="29" name="Image 4" descr="/Users/bruno/.codex/.chatgpt-projects/g-p-6ac7dbe994808191a54985dc5d276d5e/outputs/post-fb-conta-corte.png">
            <a:hlinkClick r:id="rId1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4050792"/>
            <a:ext cx="1298448" cy="17556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797296" y="410565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E7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FB | Vídeo | 18/02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5797296" y="4416552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 conta de água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5797296" y="48920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98</a:t>
            </a:r>
            <a:endParaRPr lang="en-US" sz="2600" dirty="0"/>
          </a:p>
        </p:txBody>
      </p:sp>
      <p:sp>
        <p:nvSpPr>
          <p:cNvPr id="33" name="Text 26"/>
          <p:cNvSpPr/>
          <p:nvPr/>
        </p:nvSpPr>
        <p:spPr>
          <a:xfrm>
            <a:off x="5797296" y="5358384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| alcance 607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119872" y="3977640"/>
            <a:ext cx="3529584" cy="190195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CE5"/>
            </a:solidFill>
            <a:prstDash val="solid"/>
          </a:ln>
        </p:spPr>
        <p:txBody>
          <a:bodyPr/>
          <a:p/>
        </p:txBody>
      </p:sp>
      <p:pic>
        <p:nvPicPr>
          <p:cNvPr id="35" name="Image 5" descr="/Users/bruno/.codex/.chatgpt-projects/g-p-6ac7dbe994808191a54985dc5d276d5e/outputs/post-fb-fatura-corte.png">
            <a:hlinkClick r:id="rId14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4050792"/>
            <a:ext cx="1298448" cy="17556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582912" y="410565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6E73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FB | Vídeo | 14/08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9582912" y="4416552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 digital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9582912" y="48920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32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</a:t>
            </a:r>
            <a:endParaRPr lang="en-US" sz="2600" dirty="0"/>
          </a:p>
        </p:txBody>
      </p:sp>
      <p:sp>
        <p:nvSpPr>
          <p:cNvPr id="39" name="Text 31"/>
          <p:cNvSpPr/>
          <p:nvPr/>
        </p:nvSpPr>
        <p:spPr>
          <a:xfrm>
            <a:off x="9582912" y="5358384"/>
            <a:ext cx="1938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861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| alcance 576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0160">
            <a:solidFill>
              <a:srgbClr val="D9DCE5"/>
            </a:solidFill>
            <a:prstDash val="solid"/>
          </a:ln>
        </p:spPr>
        <p:txBody>
          <a:bodyPr/>
          <a:p/>
        </p:txBody>
      </p:sp>
      <p:sp>
        <p:nvSpPr>
          <p:cNvPr id="41" name="Text 33"/>
          <p:cNvSpPr/>
          <p:nvPr/>
        </p:nvSpPr>
        <p:spPr>
          <a:xfrm>
            <a:off x="548640" y="6565392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971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exportações de publicações do DAE, janeiro a setembro de 2026.</a:t>
            </a:r>
            <a:endParaRPr lang="en-US" sz="750" dirty="0"/>
          </a:p>
        </p:txBody>
      </p:sp>
      <p:sp>
        <p:nvSpPr>
          <p:cNvPr id="42" name="Text 34"/>
          <p:cNvSpPr/>
          <p:nvPr/>
        </p:nvSpPr>
        <p:spPr>
          <a:xfrm>
            <a:off x="10424160" y="6565392"/>
            <a:ext cx="1216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sz="800">
                <a:solidFill>
                  <a:srgbClr val="67738E"/>
                </a:solidFill>
                <a:latin typeface="Aptos"/>
              </a:rPr>
              <a:t>Apuração: 19/10/2026 | 06 / 08</a:t>
            </a:r>
            <a:endParaRPr lang="en-US" sz="750" dirty="0"/>
          </a:p>
        </p:txBody>
      </p:sp>
      <p:sp>
        <p:nvSpPr>
          <p:cNvPr id="43" name="Link para publicacao 5"/>
          <p:cNvSpPr txBox="1"/>
          <p:nvPr/>
        </p:nvSpPr>
        <p:spPr>
          <a:xfrm>
            <a:off x="2011680" y="3584448"/>
            <a:ext cx="19110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9" u="sng">
                <a:solidFill>
                  <a:srgbClr val="445FAA"/>
                </a:solidFill>
                <a:latin typeface="Aptos"/>
                <a:hlinkClick r:id="rId9"/>
              </a:rPr>
              <a:t>Ver publicação ↗</a:t>
            </a:r>
          </a:p>
        </p:txBody>
      </p:sp>
      <p:sp>
        <p:nvSpPr>
          <p:cNvPr id="44" name="Link para publicacao 11"/>
          <p:cNvSpPr txBox="1"/>
          <p:nvPr/>
        </p:nvSpPr>
        <p:spPr>
          <a:xfrm>
            <a:off x="5797296" y="3584448"/>
            <a:ext cx="19110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9" u="sng">
                <a:solidFill>
                  <a:srgbClr val="445FAA"/>
                </a:solidFill>
                <a:latin typeface="Aptos"/>
                <a:hlinkClick r:id="rId10"/>
              </a:rPr>
              <a:t>Ver publicação ↗</a:t>
            </a:r>
          </a:p>
        </p:txBody>
      </p:sp>
      <p:sp>
        <p:nvSpPr>
          <p:cNvPr id="45" name="Link para publicacao 17"/>
          <p:cNvSpPr txBox="1"/>
          <p:nvPr/>
        </p:nvSpPr>
        <p:spPr>
          <a:xfrm>
            <a:off x="9582912" y="3584448"/>
            <a:ext cx="19110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9" u="sng">
                <a:solidFill>
                  <a:srgbClr val="445FAA"/>
                </a:solidFill>
                <a:latin typeface="Aptos"/>
                <a:hlinkClick r:id="rId11"/>
              </a:rPr>
              <a:t>Ver publicação ↗</a:t>
            </a:r>
          </a:p>
        </p:txBody>
      </p:sp>
      <p:sp>
        <p:nvSpPr>
          <p:cNvPr id="46" name="Link para publicacao 23"/>
          <p:cNvSpPr txBox="1"/>
          <p:nvPr/>
        </p:nvSpPr>
        <p:spPr>
          <a:xfrm>
            <a:off x="2011680" y="5641848"/>
            <a:ext cx="19110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9" u="sng">
                <a:solidFill>
                  <a:srgbClr val="445FAA"/>
                </a:solidFill>
                <a:latin typeface="Aptos"/>
                <a:hlinkClick r:id="rId12"/>
              </a:rPr>
              <a:t>Ver publicação ↗</a:t>
            </a:r>
          </a:p>
        </p:txBody>
      </p:sp>
      <p:sp>
        <p:nvSpPr>
          <p:cNvPr id="47" name="Link para publicacao 29"/>
          <p:cNvSpPr txBox="1"/>
          <p:nvPr/>
        </p:nvSpPr>
        <p:spPr>
          <a:xfrm>
            <a:off x="5797296" y="5641848"/>
            <a:ext cx="19110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9" u="sng">
                <a:solidFill>
                  <a:srgbClr val="445FAA"/>
                </a:solidFill>
                <a:latin typeface="Aptos"/>
                <a:hlinkClick r:id="rId13"/>
              </a:rPr>
              <a:t>Ver publicação ↗</a:t>
            </a:r>
          </a:p>
        </p:txBody>
      </p:sp>
      <p:sp>
        <p:nvSpPr>
          <p:cNvPr id="48" name="Link para publicacao 35"/>
          <p:cNvSpPr txBox="1"/>
          <p:nvPr/>
        </p:nvSpPr>
        <p:spPr>
          <a:xfrm>
            <a:off x="9582912" y="5641848"/>
            <a:ext cx="1911095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9" u="sng">
                <a:solidFill>
                  <a:srgbClr val="445FAA"/>
                </a:solidFill>
                <a:latin typeface="Aptos"/>
                <a:hlinkClick r:id="rId14"/>
              </a:rPr>
              <a:t>Ver publicação 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24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>
                <a:solidFill>
                  <a:srgbClr val="AFBDF1"/>
                </a:solidFill>
                <a:latin typeface="Aptos"/>
              </a:rPr>
              <a:t>07 | CONCLUSÕES E PRÓXIMOS PASSOS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2900">
                <a:solidFill>
                  <a:srgbClr val="FFFFFF"/>
                </a:solidFill>
                <a:latin typeface="Aptos"/>
              </a:rPr>
              <a:t>Conteúdo relevante + mídia ampliam resultados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500">
                <a:solidFill>
                  <a:srgbClr val="D7E1F2"/>
                </a:solidFill>
                <a:latin typeface="Aptos"/>
              </a:rPr>
              <a:t>Os indicadores demonstram o valor de combinar informação útil à população com distribuição planejada. Agosto é o melhor exemplo dessa associação.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20440" cy="0"/>
          </a:xfrm>
          <a:prstGeom prst="line">
            <a:avLst/>
          </a:prstGeom>
          <a:noFill/>
          <a:ln w="38100">
            <a:solidFill>
              <a:srgbClr val="A08B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7249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548640" y="36301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000">
                <a:solidFill>
                  <a:srgbClr val="FFFFFF"/>
                </a:solidFill>
                <a:latin typeface="Aptos"/>
              </a:rPr>
              <a:t>Valorizar os temas de serviço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416552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500">
                <a:solidFill>
                  <a:srgbClr val="FFFFFF"/>
                </a:solidFill>
                <a:latin typeface="Aptos"/>
              </a:rPr>
              <a:t>Repetir formatos do DAE que esclareçam dúvidas e despertem interesse, analisando respostas por conteúdo.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468880"/>
            <a:ext cx="3520440" cy="0"/>
          </a:xfrm>
          <a:prstGeom prst="line">
            <a:avLst/>
          </a:prstGeom>
          <a:noFill/>
          <a:ln w="38100">
            <a:solidFill>
              <a:srgbClr val="A08B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297680" y="27249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700" dirty="0"/>
          </a:p>
        </p:txBody>
      </p:sp>
      <p:sp>
        <p:nvSpPr>
          <p:cNvPr id="11" name="Text 9"/>
          <p:cNvSpPr/>
          <p:nvPr/>
        </p:nvSpPr>
        <p:spPr>
          <a:xfrm>
            <a:off x="4297680" y="36301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000">
                <a:solidFill>
                  <a:srgbClr val="FFFFFF"/>
                </a:solidFill>
                <a:latin typeface="Aptos"/>
              </a:rPr>
              <a:t>Planejar mídia contínua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97680" y="4416552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500">
                <a:solidFill>
                  <a:srgbClr val="FFFFFF"/>
                </a:solidFill>
                <a:latin typeface="Aptos"/>
              </a:rPr>
              <a:t>Apoiar temas prioritários com campanhas e acompanhar alcance e interações antes, durante e depois.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2468880"/>
            <a:ext cx="3520440" cy="0"/>
          </a:xfrm>
          <a:prstGeom prst="line">
            <a:avLst/>
          </a:prstGeom>
          <a:noFill/>
          <a:ln w="38100">
            <a:solidFill>
              <a:srgbClr val="A08B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6720" y="27249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700" dirty="0"/>
          </a:p>
        </p:txBody>
      </p:sp>
      <p:sp>
        <p:nvSpPr>
          <p:cNvPr id="15" name="Text 13"/>
          <p:cNvSpPr/>
          <p:nvPr/>
        </p:nvSpPr>
        <p:spPr>
          <a:xfrm>
            <a:off x="8046720" y="363016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000">
                <a:solidFill>
                  <a:srgbClr val="FFFFFF"/>
                </a:solidFill>
                <a:latin typeface="Aptos"/>
              </a:rPr>
              <a:t>Medir para aperfeiçoar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46720" y="4416552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sz="1500">
                <a:solidFill>
                  <a:srgbClr val="FFFFFF"/>
                </a:solidFill>
                <a:latin typeface="Aptos"/>
              </a:rPr>
              <a:t>Monitorar seguidores líquidos, alcance, visualizadores e engajamento, distinguindo efeitos orgânicos e de mídia.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779008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300">
                <a:solidFill>
                  <a:srgbClr val="D2DCF0"/>
                </a:solidFill>
                <a:latin typeface="Aptos"/>
              </a:rPr>
              <a:t>Escopo: somente Instagram e Facebook institucionais do DAE Jundiaí. A associação entre investimento e picos não demonstra causalidade exclusiva.</a:t>
            </a:r>
          </a:p>
        </p:txBody>
      </p:sp>
      <p:sp>
        <p:nvSpPr>
          <p:cNvPr id="18" name="Shape 16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0160">
            <a:solidFill>
              <a:srgbClr val="7E87A7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6565392"/>
            <a:ext cx="9875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C7CB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Fonte: análise das séries mensais e das publicações do DAE.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424160" y="6565392"/>
            <a:ext cx="1216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sz="800">
                <a:solidFill>
                  <a:srgbClr val="67738E"/>
                </a:solidFill>
                <a:latin typeface="Aptos"/>
              </a:rPr>
              <a:t>Apuração: 19/10/2026 | 08 / 08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1">
                <a:solidFill>
                  <a:srgbClr val="6175A2"/>
                </a:solidFill>
                <a:latin typeface="Aptos"/>
              </a:defRPr>
            </a:pPr>
            <a:r>
              <a:t>06  |  INVESTIMENTO E DESEMPENHO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9144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3200" b="1">
                <a:solidFill>
                  <a:srgbClr val="192448"/>
                </a:solidFill>
                <a:latin typeface="Aptos"/>
              </a:defRPr>
            </a:pPr>
            <a:r>
              <a:t>Agosto oferece a evidência mais forte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972800" cy="420624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500" b="0">
                <a:solidFill>
                  <a:srgbClr val="4C5975"/>
                </a:solidFill>
                <a:latin typeface="Aptos"/>
              </a:defRPr>
            </a:pPr>
            <a:r>
              <a:t>As campanhas do DAE veicularam de 7 a 28 de agosto; quatro indicadores cresceram simultaneamente em relação a julho.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2148840"/>
            <a:ext cx="5440680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86000"/>
            <a:ext cx="2194560" cy="5303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700" b="1">
                <a:solidFill>
                  <a:srgbClr val="375A9C"/>
                </a:solidFill>
                <a:latin typeface="Aptos"/>
              </a:defRPr>
            </a:pPr>
            <a:r>
              <a:t>+71,7%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340864"/>
            <a:ext cx="28346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1">
                <a:solidFill>
                  <a:srgbClr val="192448"/>
                </a:solidFill>
                <a:latin typeface="Aptos"/>
              </a:defRPr>
            </a:pPr>
            <a:r>
              <a:t>Alcance 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670048"/>
            <a:ext cx="283464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>
                <a:solidFill>
                  <a:srgbClr val="52627D"/>
                </a:solidFill>
                <a:latin typeface="Aptos"/>
              </a:defRPr>
            </a:pPr>
            <a:r>
              <a:t>79,4 mil → 136,3 mil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148840"/>
            <a:ext cx="5440680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286000"/>
            <a:ext cx="2194560" cy="5303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700" b="1">
                <a:solidFill>
                  <a:srgbClr val="375A9C"/>
                </a:solidFill>
                <a:latin typeface="Aptos"/>
              </a:defRPr>
            </a:pPr>
            <a:r>
              <a:t>+288,4%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340864"/>
            <a:ext cx="28346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1">
                <a:solidFill>
                  <a:srgbClr val="192448"/>
                </a:solidFill>
                <a:latin typeface="Aptos"/>
              </a:defRPr>
            </a:pPr>
            <a:r>
              <a:t>Visualizadores Facebook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670048"/>
            <a:ext cx="283464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>
                <a:solidFill>
                  <a:srgbClr val="52627D"/>
                </a:solidFill>
                <a:latin typeface="Aptos"/>
              </a:defRPr>
            </a:pPr>
            <a:r>
              <a:t>45,7 mil → 177,5 mil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" y="3547872"/>
            <a:ext cx="5440680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685032"/>
            <a:ext cx="2194560" cy="5303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700" b="1">
                <a:solidFill>
                  <a:srgbClr val="375A9C"/>
                </a:solidFill>
                <a:latin typeface="Aptos"/>
              </a:defRPr>
            </a:pPr>
            <a:r>
              <a:t>+92,8%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739896"/>
            <a:ext cx="28346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1">
                <a:solidFill>
                  <a:srgbClr val="192448"/>
                </a:solidFill>
                <a:latin typeface="Aptos"/>
              </a:defRPr>
            </a:pPr>
            <a:r>
              <a:t>Interações Instagram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069080"/>
            <a:ext cx="283464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>
                <a:solidFill>
                  <a:srgbClr val="52627D"/>
                </a:solidFill>
                <a:latin typeface="Aptos"/>
              </a:defRPr>
            </a:pPr>
            <a:r>
              <a:t>2.883 → 5.557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547872"/>
            <a:ext cx="5440680" cy="1243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F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685032"/>
            <a:ext cx="2194560" cy="53035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2700" b="1">
                <a:solidFill>
                  <a:srgbClr val="375A9C"/>
                </a:solidFill>
                <a:latin typeface="Aptos"/>
              </a:defRPr>
            </a:pPr>
            <a:r>
              <a:t>+363,5%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739896"/>
            <a:ext cx="28346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1">
                <a:solidFill>
                  <a:srgbClr val="192448"/>
                </a:solidFill>
                <a:latin typeface="Aptos"/>
              </a:defRPr>
            </a:pPr>
            <a:r>
              <a:t>Interações Facebook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4069080"/>
            <a:ext cx="283464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100" b="0">
                <a:solidFill>
                  <a:srgbClr val="52627D"/>
                </a:solidFill>
                <a:latin typeface="Aptos"/>
              </a:defRPr>
            </a:pPr>
            <a:r>
              <a:t>665 → 3.082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5084064"/>
            <a:ext cx="11027664" cy="1097280"/>
          </a:xfrm>
          <a:prstGeom prst="roundRect">
            <a:avLst>
              <a:gd name="adj" fmla="val 12000"/>
            </a:avLst>
          </a:prstGeom>
          <a:solidFill>
            <a:srgbClr val="E7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202936"/>
            <a:ext cx="10607040" cy="84124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1300" b="0">
                <a:solidFill>
                  <a:srgbClr val="192448"/>
                </a:solidFill>
                <a:latin typeface="Aptos"/>
              </a:defRPr>
            </a:pPr>
            <a:r>
              <a:t>LEITURA  |  O investimento expandiu o potencial de distribuição. Como não há análise de atribuição específica, os aumentos observados não podem ser creditados exclusivamente aos anúncios. Os picos de março/abril mostram também a força do conteúdo.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6539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800" b="0">
                <a:solidFill>
                  <a:srgbClr val="67738E"/>
                </a:solidFill>
                <a:latin typeface="Aptos"/>
              </a:defRPr>
            </a:pPr>
            <a:r>
              <a:t>Fontes: Meta Business Suite (séries mensais) e controle de mídia DAE (17/07–29/09).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65392"/>
            <a:ext cx="1216152" cy="16459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defRPr sz="780" b="0">
                <a:solidFill>
                  <a:srgbClr val="67738E"/>
                </a:solidFill>
                <a:latin typeface="Aptos"/>
              </a:defRPr>
            </a:pPr>
            <a:r>
              <a:rPr sz="800">
                <a:solidFill>
                  <a:srgbClr val="67738E"/>
                </a:solidFill>
                <a:latin typeface="Aptos"/>
              </a:rPr>
              <a:t>Apuração: 19/10/2026 | 07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Comunicação do DAE Jundiaí em nove meses</dc:title>
  <dc:subject>Evolução das redes sociais do DAE Jundiaí, janeiro a setembro de 2026</dc:subject>
  <dc:creator>Esquina</dc:creator>
  <cp:lastModifiedBy>Esquina</cp:lastModifiedBy>
  <cp:revision>1</cp:revision>
  <dcterms:created xsi:type="dcterms:W3CDTF">2026-10-19T15:47:32Z</dcterms:created>
  <dcterms:modified xsi:type="dcterms:W3CDTF">2026-10-19T15:47:32Z</dcterms:modified>
</cp:coreProperties>
</file>